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2" r:id="rId6"/>
    <p:sldId id="393" r:id="rId7"/>
    <p:sldId id="394" r:id="rId8"/>
    <p:sldId id="395" r:id="rId9"/>
    <p:sldId id="396" r:id="rId10"/>
    <p:sldId id="398" r:id="rId11"/>
    <p:sldId id="397" r:id="rId12"/>
    <p:sldId id="374" r:id="rId13"/>
    <p:sldId id="399"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69" d="100"/>
          <a:sy n="69" d="100"/>
        </p:scale>
        <p:origin x="52" y="364"/>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10/3/2026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03-10-2026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03-10-2026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03-10-2026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03-10-2026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03-10-2026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03-10-2026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03-10-2026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03-10-2026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03-10-2026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03-10-2026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03-10-2026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03-10-2026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03-10-2026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03-10-2026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03-10-2026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03-10-2026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03-10-2026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03-10-2026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400" b="1" dirty="0">
                <a:ea typeface="+mn-lt"/>
                <a:cs typeface="+mn-lt"/>
              </a:rPr>
              <a:t>DATABASE SYSTEMS ENGINEERING AND DISTRIBUTED BACKEND DEVELOPMENT (25CS1302E</a:t>
            </a:r>
            <a:r>
              <a:rPr lang="en-US" sz="1800" b="1" dirty="0">
                <a:ea typeface="+mn-lt"/>
                <a:cs typeface="+mn-lt"/>
              </a:rPr>
              <a:t>)</a:t>
            </a:r>
            <a:br>
              <a:rPr lang="en-US" sz="2400" dirty="0">
                <a:solidFill>
                  <a:srgbClr val="FF0000"/>
                </a:solidFill>
                <a:latin typeface="+mn-lt"/>
                <a:cs typeface="Arial" panose="020B0604020202020204" pitchFamily="34" charset="0"/>
              </a:rPr>
            </a:br>
            <a:r>
              <a:rPr lang="en-US" sz="2400" dirty="0">
                <a:solidFill>
                  <a:srgbClr val="FF0000"/>
                </a:solidFill>
                <a:latin typeface="+mn-lt"/>
                <a:cs typeface="Arial" panose="020B0604020202020204" pitchFamily="34" charset="0"/>
              </a:rPr>
              <a:t>TRAVEL PACKAGE BOOKING PORTAL</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15189560"/>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Ramisetty </a:t>
                      </a:r>
                      <a:r>
                        <a:rPr lang="en-US" dirty="0" err="1"/>
                        <a:t>Samshritha</a:t>
                      </a:r>
                      <a:r>
                        <a:rPr lang="en-US" dirty="0"/>
                        <a:t> </a:t>
                      </a:r>
                    </a:p>
                  </a:txBody>
                  <a:tcPr/>
                </a:tc>
                <a:tc>
                  <a:txBody>
                    <a:bodyPr/>
                    <a:lstStyle/>
                    <a:p>
                      <a:r>
                        <a:rPr lang="en-US" dirty="0"/>
                        <a:t>2520030045</a:t>
                      </a:r>
                    </a:p>
                  </a:txBody>
                  <a:tcPr/>
                </a:tc>
                <a:extLst>
                  <a:ext uri="{0D108BD9-81ED-4DB2-BD59-A6C34878D82A}">
                    <a16:rowId xmlns:a16="http://schemas.microsoft.com/office/drawing/2014/main" val="253518174"/>
                  </a:ext>
                </a:extLst>
              </a:tr>
              <a:tr h="370840">
                <a:tc>
                  <a:txBody>
                    <a:bodyPr/>
                    <a:lstStyle/>
                    <a:p>
                      <a:r>
                        <a:rPr lang="en-US" dirty="0"/>
                        <a:t>Nakshatra Edara</a:t>
                      </a:r>
                    </a:p>
                  </a:txBody>
                  <a:tcPr/>
                </a:tc>
                <a:tc>
                  <a:txBody>
                    <a:bodyPr/>
                    <a:lstStyle/>
                    <a:p>
                      <a:r>
                        <a:rPr lang="en-US" dirty="0"/>
                        <a:t>2520030090</a:t>
                      </a:r>
                    </a:p>
                  </a:txBody>
                  <a:tcPr/>
                </a:tc>
                <a:extLst>
                  <a:ext uri="{0D108BD9-81ED-4DB2-BD59-A6C34878D82A}">
                    <a16:rowId xmlns:a16="http://schemas.microsoft.com/office/drawing/2014/main" val="2413438055"/>
                  </a:ext>
                </a:extLst>
              </a:tr>
              <a:tr h="370840">
                <a:tc>
                  <a:txBody>
                    <a:bodyPr/>
                    <a:lstStyle/>
                    <a:p>
                      <a:r>
                        <a:rPr lang="en-US" dirty="0"/>
                        <a:t>Gundla Laxmi Sri</a:t>
                      </a:r>
                    </a:p>
                  </a:txBody>
                  <a:tcPr/>
                </a:tc>
                <a:tc>
                  <a:txBody>
                    <a:bodyPr/>
                    <a:lstStyle/>
                    <a:p>
                      <a:r>
                        <a:rPr lang="en-US" dirty="0"/>
                        <a:t>2520030264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NUMBER:22</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82087974"/>
              </p:ext>
            </p:extLst>
          </p:nvPr>
        </p:nvGraphicFramePr>
        <p:xfrm>
          <a:off x="960582" y="1416193"/>
          <a:ext cx="10393217" cy="2980316"/>
        </p:xfrm>
        <a:graphic>
          <a:graphicData uri="http://schemas.openxmlformats.org/drawingml/2006/table">
            <a:tbl>
              <a:tblPr firstRow="1" bandRow="1">
                <a:tableStyleId>{5A111915-BE36-4E01-A7E5-04B1672EAD32}</a:tableStyleId>
              </a:tblPr>
              <a:tblGrid>
                <a:gridCol w="5089236">
                  <a:extLst>
                    <a:ext uri="{9D8B030D-6E8A-4147-A177-3AD203B41FA5}">
                      <a16:colId xmlns:a16="http://schemas.microsoft.com/office/drawing/2014/main" val="446563831"/>
                    </a:ext>
                  </a:extLst>
                </a:gridCol>
                <a:gridCol w="5303981">
                  <a:extLst>
                    <a:ext uri="{9D8B030D-6E8A-4147-A177-3AD203B41FA5}">
                      <a16:colId xmlns:a16="http://schemas.microsoft.com/office/drawing/2014/main" val="4175382372"/>
                    </a:ext>
                  </a:extLst>
                </a:gridCol>
              </a:tblGrid>
              <a:tr h="5403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813324">
                <a:tc>
                  <a:txBody>
                    <a:bodyPr/>
                    <a:lstStyle/>
                    <a:p>
                      <a:r>
                        <a:rPr lang="en-US" dirty="0"/>
                        <a:t>Ramisetty </a:t>
                      </a:r>
                      <a:r>
                        <a:rPr lang="en-US" dirty="0" err="1"/>
                        <a:t>Samshritha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Abstract, Introduction, Solution(Contribution)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813324">
                <a:tc>
                  <a:txBody>
                    <a:bodyPr/>
                    <a:lstStyle/>
                    <a:p>
                      <a:r>
                        <a:rPr lang="en-US" dirty="0"/>
                        <a:t>Nakshatra Edara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Existing System, Modules, Software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8133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Laxmi 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alpha val="31000"/>
                            </a:schemeClr>
                          </a:solidFill>
                        </a:rPr>
                        <a:t>Problem, Objectives</a:t>
                      </a:r>
                      <a:r>
                        <a:rPr lang="en-US" b="0">
                          <a:solidFill>
                            <a:schemeClr val="tx1">
                              <a:alpha val="31000"/>
                            </a:schemeClr>
                          </a:solidFill>
                        </a:rPr>
                        <a:t>, Conclusion and Future Scope </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dirty="0"/>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92500" lnSpcReduction="10000"/>
          </a:bodyPr>
          <a:lstStyle/>
          <a:p>
            <a:r>
              <a:rPr lang="en-IN" dirty="0"/>
              <a:t>The Travel Package Booking Portal is a web-based application designed to simplify and improve the process of planning and booking travel packages. Traditional travel booking often requires customers to visit multiple websites or contact travel agencies to compare destinations, packages, prices, accommodations, and activities. The proposed system provides a centralized platform where users can explore available travel packages, view detailed information, compare options, and make bookings online. Users can create accounts, manage their bookings, and receive booking confirmations. The system is designed to support administrative management of destinations, travel packages, customer details, bookings, and package availability. The portal aims to provide a user-friendly, efficient, and transparent travel booking experience.</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85000" lnSpcReduction="10000"/>
          </a:bodyPr>
          <a:lstStyle/>
          <a:p>
            <a:r>
              <a:rPr lang="en-IN" dirty="0"/>
              <a:t>The Travel Package Booking Portal is a web-based system developed to make the process of searching and booking travel packages easier, faster, and more efficient. Traditional travel booking methods often require customers to visit travel agencies or contact multiple service providers to collect information about destinations, prices, accommodation, transportation, and activities.</a:t>
            </a:r>
          </a:p>
          <a:p>
            <a:r>
              <a:rPr lang="en-IN" dirty="0"/>
              <a:t>The proposed portal provides a centralized platform where users can register, log in, explore travel packages, view package details, compare options, and make bookings online. The system uses a structured MySQL database to store and manage information such as customer details, travel packages, destinations, bookings, payments, and availability.</a:t>
            </a:r>
          </a:p>
          <a:p>
            <a:r>
              <a:rPr lang="en-IN" dirty="0"/>
              <a:t>The project applies Database Systems Engineering and Distributed Backend Development concepts including database design, CRUD operations, transactions, REST APIs, JWT authentication, microservices, and Docker containerization.</a:t>
            </a:r>
          </a:p>
          <a:p>
            <a:pPr marL="0" indent="0">
              <a:buNone/>
            </a:pP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92500" lnSpcReduction="10000"/>
          </a:bodyPr>
          <a:lstStyle/>
          <a:p>
            <a:r>
              <a:rPr lang="en-IN" dirty="0"/>
              <a:t>In the existing system, travel package bookings are commonly managed through traditional travel agencies, phone calls, emails, or separate online platforms. Customers need to search through different sources to find information about destinations, accommodation, transportation, prices, and activities. In many cases, booking information is maintained manually or across multiple systems, which can lead to data duplication, delays, and errors.</a:t>
            </a:r>
          </a:p>
          <a:p>
            <a:r>
              <a:rPr lang="en-IN" dirty="0"/>
              <a:t>The existing approach may also have limited integration between customer information, package availability, and booking records. Updating package details and availability can be difficult when multiple users or travel agents access the system simultaneously. Manual processing can increase the chances of incorrect bookings, data inconsistency, and loss of information.</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85000" lnSpcReduction="10000"/>
          </a:bodyPr>
          <a:lstStyle/>
          <a:p>
            <a:r>
              <a:rPr lang="en-IN" dirty="0"/>
              <a:t>The traditional travel booking process involves searching for travel packages from multiple sources, communicating with travel agencies, and manually managing booking information. This makes the process time-consuming and may result in incorrect, duplicated, or outdated data. Travel service providers also face difficulties in efficiently managing large amounts of customer, package, availability, and booking information.</a:t>
            </a:r>
          </a:p>
          <a:p>
            <a:r>
              <a:rPr lang="en-IN" dirty="0"/>
              <a:t>There is a need for a centralized Travel Package Booking Portal that can efficiently store, retrieve, and manage travel-related data using a well-designed database and reliable backend services. The system should provide accurate package availability, simplify the booking process, maintain data consistency, and support multiple users simultaneously. By applying Database Systems Engineering and Distributed Backend Development concepts, the proposed system aims to provide a scalable, secure, reliable, and efficient platform for managing travel packages and online bookings.</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70000" lnSpcReduction="20000"/>
          </a:bodyPr>
          <a:lstStyle/>
          <a:p>
            <a:r>
              <a:rPr lang="en-IN" dirty="0"/>
              <a:t>The proposed Travel Package Booking Portal provides a centralized platform for managing travel packages and online bookings. The system uses a structured MySQL database to store and organize user details, travel packages, destinations, bookings, payments, and availability.</a:t>
            </a:r>
          </a:p>
          <a:p>
            <a:r>
              <a:rPr lang="en-IN" b="1" dirty="0"/>
              <a:t>Key Contributions</a:t>
            </a:r>
          </a:p>
          <a:p>
            <a:pPr lvl="0"/>
            <a:r>
              <a:rPr lang="en-IN" b="1" dirty="0"/>
              <a:t>Centralized Database:</a:t>
            </a:r>
            <a:r>
              <a:rPr lang="en-IN" dirty="0"/>
              <a:t> Stores travel, customer, package, booking, and payment information. </a:t>
            </a:r>
          </a:p>
          <a:p>
            <a:pPr lvl="0"/>
            <a:r>
              <a:rPr lang="en-IN" b="1" dirty="0"/>
              <a:t>Online Package Search:</a:t>
            </a:r>
            <a:r>
              <a:rPr lang="en-IN" dirty="0"/>
              <a:t> Allows users to search, filter, and sort available packages. </a:t>
            </a:r>
          </a:p>
          <a:p>
            <a:pPr lvl="0"/>
            <a:r>
              <a:rPr lang="en-IN" b="1" dirty="0"/>
              <a:t>Booking Management:</a:t>
            </a:r>
            <a:r>
              <a:rPr lang="en-IN" dirty="0"/>
              <a:t> Enables users to book packages and view their booking details. </a:t>
            </a:r>
          </a:p>
          <a:p>
            <a:pPr lvl="0"/>
            <a:r>
              <a:rPr lang="en-IN" b="1" dirty="0"/>
              <a:t>Payment Management:</a:t>
            </a:r>
            <a:r>
              <a:rPr lang="en-IN" dirty="0"/>
              <a:t> Supports UPI, card, and net banking payment workflows. </a:t>
            </a:r>
          </a:p>
          <a:p>
            <a:pPr lvl="0"/>
            <a:r>
              <a:rPr lang="en-IN" b="1" dirty="0"/>
              <a:t>Authentication:</a:t>
            </a:r>
            <a:r>
              <a:rPr lang="en-IN" dirty="0"/>
              <a:t> Provides secure login using JWT and password hashing. </a:t>
            </a:r>
          </a:p>
          <a:p>
            <a:pPr lvl="0"/>
            <a:r>
              <a:rPr lang="en-IN" b="1" dirty="0"/>
              <a:t>Data Integrity:</a:t>
            </a:r>
            <a:r>
              <a:rPr lang="en-IN" dirty="0"/>
              <a:t> Uses database constraints and transactions to maintain consistency. </a:t>
            </a:r>
          </a:p>
          <a:p>
            <a:pPr lvl="0"/>
            <a:r>
              <a:rPr lang="en-IN" b="1" dirty="0"/>
              <a:t>Distributed Backend:</a:t>
            </a:r>
            <a:r>
              <a:rPr lang="en-IN" dirty="0"/>
              <a:t> Uses separate backend services for authentication and booking operations. </a:t>
            </a:r>
          </a:p>
          <a:p>
            <a:pPr lvl="0"/>
            <a:r>
              <a:rPr lang="en-IN" b="1" dirty="0"/>
              <a:t>Containerization:</a:t>
            </a:r>
            <a:r>
              <a:rPr lang="en-IN" dirty="0"/>
              <a:t> Uses Docker for backend deployment and portability.</a:t>
            </a:r>
          </a:p>
          <a:p>
            <a:pPr marL="0" lvl="0" indent="0">
              <a:buNone/>
            </a:pPr>
            <a:endParaRPr lang="en-IN" dirty="0"/>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77500" lnSpcReduction="20000"/>
          </a:bodyPr>
          <a:lstStyle/>
          <a:p>
            <a:pPr lvl="0"/>
            <a:r>
              <a:rPr lang="en-IN" dirty="0"/>
              <a:t>To develop a secure and reliable backend system for managing travel packages and bookings. </a:t>
            </a:r>
          </a:p>
          <a:p>
            <a:pPr lvl="0"/>
            <a:r>
              <a:rPr lang="en-IN" dirty="0"/>
              <a:t>To design a normalized relational MySQL database for users, packages, hotels, buses, restaurants, payments, and bookings. </a:t>
            </a:r>
          </a:p>
          <a:p>
            <a:pPr lvl="0"/>
            <a:r>
              <a:rPr lang="en-IN" dirty="0"/>
              <a:t>To provide RESTful APIs for travel package, hotel, transportation, restaurant, and booking management. </a:t>
            </a:r>
          </a:p>
          <a:p>
            <a:pPr lvl="0"/>
            <a:r>
              <a:rPr lang="en-IN" dirty="0"/>
              <a:t>To implement authentication, authorization, JWT, RBAC, and password hashing for secure access. </a:t>
            </a:r>
          </a:p>
          <a:p>
            <a:pPr lvl="0"/>
            <a:r>
              <a:rPr lang="en-IN" dirty="0"/>
              <a:t>To apply transactions, validation, indexing, and SQL operations for efficient and consistent data management. </a:t>
            </a:r>
          </a:p>
          <a:p>
            <a:pPr lvl="0"/>
            <a:r>
              <a:rPr lang="en-IN" dirty="0"/>
              <a:t>To implement microservices and Docker containerization for distributed backend development. </a:t>
            </a:r>
          </a:p>
          <a:p>
            <a:pPr lvl="0"/>
            <a:r>
              <a:rPr lang="en-IN" dirty="0"/>
              <a:t>To provide a user-friendly platform for searching, booking, and managing travel services.</a:t>
            </a:r>
          </a:p>
          <a:p>
            <a:pPr marL="0" indent="0">
              <a:buNone/>
            </a:pP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62500" lnSpcReduction="20000"/>
          </a:bodyPr>
          <a:lstStyle/>
          <a:p>
            <a:r>
              <a:rPr lang="en-IN" b="1" dirty="0"/>
              <a:t>1. User Management</a:t>
            </a:r>
            <a:br>
              <a:rPr lang="en-IN" dirty="0"/>
            </a:br>
            <a:r>
              <a:rPr lang="en-IN" dirty="0"/>
              <a:t>Registration, login, profile management, JWT authentication and authorization.</a:t>
            </a:r>
          </a:p>
          <a:p>
            <a:r>
              <a:rPr lang="en-IN" b="1" dirty="0"/>
              <a:t>2. Travel Package Management</a:t>
            </a:r>
            <a:br>
              <a:rPr lang="en-IN" dirty="0"/>
            </a:br>
            <a:r>
              <a:rPr lang="en-IN" dirty="0"/>
              <a:t>View and manage travel packages, destinations, prices, duration and availability.</a:t>
            </a:r>
          </a:p>
          <a:p>
            <a:r>
              <a:rPr lang="en-IN" b="1" dirty="0"/>
              <a:t>3. Search &amp; Filtering</a:t>
            </a:r>
            <a:br>
              <a:rPr lang="en-IN" dirty="0"/>
            </a:br>
            <a:r>
              <a:rPr lang="en-IN" dirty="0"/>
              <a:t>Search, filter and sort travel packages based on travel requirements.</a:t>
            </a:r>
          </a:p>
          <a:p>
            <a:r>
              <a:rPr lang="en-IN" b="1" dirty="0"/>
              <a:t>4. Booking Management</a:t>
            </a:r>
            <a:br>
              <a:rPr lang="en-IN" dirty="0"/>
            </a:br>
            <a:r>
              <a:rPr lang="en-IN" dirty="0"/>
              <a:t>Package booking, booking confirmation, booking status and booking history.</a:t>
            </a:r>
          </a:p>
          <a:p>
            <a:r>
              <a:rPr lang="en-IN" b="1" dirty="0"/>
              <a:t>5. Payment Management</a:t>
            </a:r>
            <a:br>
              <a:rPr lang="en-IN" dirty="0"/>
            </a:br>
            <a:r>
              <a:rPr lang="en-IN" dirty="0"/>
              <a:t>UPI, debit/credit card and net banking payment workflows.</a:t>
            </a:r>
          </a:p>
          <a:p>
            <a:r>
              <a:rPr lang="en-IN" b="1" dirty="0"/>
              <a:t>6. Restaurant &amp; Tour Management</a:t>
            </a:r>
            <a:br>
              <a:rPr lang="en-IN" dirty="0"/>
            </a:br>
            <a:r>
              <a:rPr lang="en-IN" dirty="0"/>
              <a:t>Restaurant menus and detailed tour itineraries.</a:t>
            </a:r>
          </a:p>
          <a:p>
            <a:r>
              <a:rPr lang="en-IN" b="1" dirty="0"/>
              <a:t>7. Review Management</a:t>
            </a:r>
            <a:br>
              <a:rPr lang="en-IN" dirty="0"/>
            </a:br>
            <a:r>
              <a:rPr lang="en-IN" dirty="0"/>
              <a:t>Store and manage user reviews and ratings.</a:t>
            </a:r>
          </a:p>
          <a:p>
            <a:r>
              <a:rPr lang="en-IN" b="1" dirty="0"/>
              <a:t>8. Microservices &amp; API Management</a:t>
            </a:r>
            <a:br>
              <a:rPr lang="en-IN" dirty="0"/>
            </a:br>
            <a:r>
              <a:rPr lang="en-IN" dirty="0"/>
              <a:t>REST APIs with Node.js/Express.js and separate authentication and booking services.</a:t>
            </a:r>
          </a:p>
          <a:p>
            <a:pPr marL="0" indent="0">
              <a:buNone/>
            </a:pP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8" name="Content Placeholder 7">
            <a:extLst>
              <a:ext uri="{FF2B5EF4-FFF2-40B4-BE49-F238E27FC236}">
                <a16:creationId xmlns:a16="http://schemas.microsoft.com/office/drawing/2014/main" id="{A7A6EDA6-B95D-6060-8DBB-AC6CBCC17497}"/>
              </a:ext>
            </a:extLst>
          </p:cNvPr>
          <p:cNvGraphicFramePr>
            <a:graphicFrameLocks noGrp="1"/>
          </p:cNvGraphicFramePr>
          <p:nvPr>
            <p:ph idx="1"/>
            <p:extLst>
              <p:ext uri="{D42A27DB-BD31-4B8C-83A1-F6EECF244321}">
                <p14:modId xmlns:p14="http://schemas.microsoft.com/office/powerpoint/2010/main" val="1925416811"/>
              </p:ext>
            </p:extLst>
          </p:nvPr>
        </p:nvGraphicFramePr>
        <p:xfrm>
          <a:off x="960582" y="1811462"/>
          <a:ext cx="10347958" cy="4746212"/>
        </p:xfrm>
        <a:graphic>
          <a:graphicData uri="http://schemas.openxmlformats.org/drawingml/2006/table">
            <a:tbl>
              <a:tblPr>
                <a:tableStyleId>{5C22544A-7EE6-4342-B048-85BDC9FD1C3A}</a:tableStyleId>
              </a:tblPr>
              <a:tblGrid>
                <a:gridCol w="5135418">
                  <a:extLst>
                    <a:ext uri="{9D8B030D-6E8A-4147-A177-3AD203B41FA5}">
                      <a16:colId xmlns:a16="http://schemas.microsoft.com/office/drawing/2014/main" val="2740994537"/>
                    </a:ext>
                  </a:extLst>
                </a:gridCol>
                <a:gridCol w="5212540">
                  <a:extLst>
                    <a:ext uri="{9D8B030D-6E8A-4147-A177-3AD203B41FA5}">
                      <a16:colId xmlns:a16="http://schemas.microsoft.com/office/drawing/2014/main" val="2588826804"/>
                    </a:ext>
                  </a:extLst>
                </a:gridCol>
              </a:tblGrid>
              <a:tr h="362611">
                <a:tc>
                  <a:txBody>
                    <a:bodyPr/>
                    <a:lstStyle/>
                    <a:p>
                      <a:pPr>
                        <a:buNone/>
                      </a:pPr>
                      <a:r>
                        <a:rPr lang="en-IN" sz="1800" dirty="0"/>
                        <a:t>Category</a:t>
                      </a:r>
                    </a:p>
                  </a:txBody>
                  <a:tcPr marL="90653" marR="90653" marT="45326" marB="45326" anchor="ctr"/>
                </a:tc>
                <a:tc>
                  <a:txBody>
                    <a:bodyPr/>
                    <a:lstStyle/>
                    <a:p>
                      <a:pPr>
                        <a:buNone/>
                      </a:pPr>
                      <a:r>
                        <a:rPr lang="en-IN" sz="1800" dirty="0"/>
                        <a:t>Technology</a:t>
                      </a:r>
                    </a:p>
                  </a:txBody>
                  <a:tcPr marL="90653" marR="90653" marT="45326" marB="45326" anchor="ctr"/>
                </a:tc>
                <a:extLst>
                  <a:ext uri="{0D108BD9-81ED-4DB2-BD59-A6C34878D82A}">
                    <a16:rowId xmlns:a16="http://schemas.microsoft.com/office/drawing/2014/main" val="786401510"/>
                  </a:ext>
                </a:extLst>
              </a:tr>
              <a:tr h="362611">
                <a:tc>
                  <a:txBody>
                    <a:bodyPr/>
                    <a:lstStyle/>
                    <a:p>
                      <a:pPr>
                        <a:buNone/>
                      </a:pPr>
                      <a:r>
                        <a:rPr lang="en-IN" sz="1800" dirty="0"/>
                        <a:t>Frontend</a:t>
                      </a:r>
                    </a:p>
                  </a:txBody>
                  <a:tcPr marL="90653" marR="90653" marT="45326" marB="45326" anchor="ctr"/>
                </a:tc>
                <a:tc>
                  <a:txBody>
                    <a:bodyPr/>
                    <a:lstStyle/>
                    <a:p>
                      <a:pPr>
                        <a:buNone/>
                      </a:pPr>
                      <a:r>
                        <a:rPr lang="en-IN" sz="1800"/>
                        <a:t>HTML, CSS, JavaScript</a:t>
                      </a:r>
                    </a:p>
                  </a:txBody>
                  <a:tcPr marL="90653" marR="90653" marT="45326" marB="45326" anchor="ctr"/>
                </a:tc>
                <a:extLst>
                  <a:ext uri="{0D108BD9-81ED-4DB2-BD59-A6C34878D82A}">
                    <a16:rowId xmlns:a16="http://schemas.microsoft.com/office/drawing/2014/main" val="3674929816"/>
                  </a:ext>
                </a:extLst>
              </a:tr>
              <a:tr h="362611">
                <a:tc>
                  <a:txBody>
                    <a:bodyPr/>
                    <a:lstStyle/>
                    <a:p>
                      <a:pPr>
                        <a:buNone/>
                      </a:pPr>
                      <a:r>
                        <a:rPr lang="en-IN" sz="1800" dirty="0"/>
                        <a:t>Frontend Framework</a:t>
                      </a:r>
                    </a:p>
                  </a:txBody>
                  <a:tcPr marL="90653" marR="90653" marT="45326" marB="45326" anchor="ctr"/>
                </a:tc>
                <a:tc>
                  <a:txBody>
                    <a:bodyPr/>
                    <a:lstStyle/>
                    <a:p>
                      <a:pPr>
                        <a:buNone/>
                      </a:pPr>
                      <a:r>
                        <a:rPr lang="en-IN" sz="1800" dirty="0"/>
                        <a:t>React.js + Vite</a:t>
                      </a:r>
                    </a:p>
                  </a:txBody>
                  <a:tcPr marL="90653" marR="90653" marT="45326" marB="45326" anchor="ctr"/>
                </a:tc>
                <a:extLst>
                  <a:ext uri="{0D108BD9-81ED-4DB2-BD59-A6C34878D82A}">
                    <a16:rowId xmlns:a16="http://schemas.microsoft.com/office/drawing/2014/main" val="437732532"/>
                  </a:ext>
                </a:extLst>
              </a:tr>
              <a:tr h="362611">
                <a:tc>
                  <a:txBody>
                    <a:bodyPr/>
                    <a:lstStyle/>
                    <a:p>
                      <a:pPr>
                        <a:buNone/>
                      </a:pPr>
                      <a:r>
                        <a:rPr lang="en-IN" sz="1800" dirty="0"/>
                        <a:t>Backend</a:t>
                      </a:r>
                    </a:p>
                  </a:txBody>
                  <a:tcPr marL="90653" marR="90653" marT="45326" marB="45326" anchor="ctr"/>
                </a:tc>
                <a:tc>
                  <a:txBody>
                    <a:bodyPr/>
                    <a:lstStyle/>
                    <a:p>
                      <a:pPr>
                        <a:buNone/>
                      </a:pPr>
                      <a:r>
                        <a:rPr lang="en-IN" sz="1800"/>
                        <a:t>Node.js, Express.js</a:t>
                      </a:r>
                    </a:p>
                  </a:txBody>
                  <a:tcPr marL="90653" marR="90653" marT="45326" marB="45326" anchor="ctr"/>
                </a:tc>
                <a:extLst>
                  <a:ext uri="{0D108BD9-81ED-4DB2-BD59-A6C34878D82A}">
                    <a16:rowId xmlns:a16="http://schemas.microsoft.com/office/drawing/2014/main" val="2210333494"/>
                  </a:ext>
                </a:extLst>
              </a:tr>
              <a:tr h="362611">
                <a:tc>
                  <a:txBody>
                    <a:bodyPr/>
                    <a:lstStyle/>
                    <a:p>
                      <a:pPr>
                        <a:buNone/>
                      </a:pPr>
                      <a:r>
                        <a:rPr lang="en-IN" sz="1800" dirty="0"/>
                        <a:t>Relational Database</a:t>
                      </a:r>
                    </a:p>
                  </a:txBody>
                  <a:tcPr marL="90653" marR="90653" marT="45326" marB="45326" anchor="ctr"/>
                </a:tc>
                <a:tc>
                  <a:txBody>
                    <a:bodyPr/>
                    <a:lstStyle/>
                    <a:p>
                      <a:pPr>
                        <a:buNone/>
                      </a:pPr>
                      <a:r>
                        <a:rPr lang="en-IN" sz="1800"/>
                        <a:t>MySQL</a:t>
                      </a:r>
                    </a:p>
                  </a:txBody>
                  <a:tcPr marL="90653" marR="90653" marT="45326" marB="45326" anchor="ctr"/>
                </a:tc>
                <a:extLst>
                  <a:ext uri="{0D108BD9-81ED-4DB2-BD59-A6C34878D82A}">
                    <a16:rowId xmlns:a16="http://schemas.microsoft.com/office/drawing/2014/main" val="3608963327"/>
                  </a:ext>
                </a:extLst>
              </a:tr>
              <a:tr h="362611">
                <a:tc>
                  <a:txBody>
                    <a:bodyPr/>
                    <a:lstStyle/>
                    <a:p>
                      <a:pPr>
                        <a:buNone/>
                      </a:pPr>
                      <a:r>
                        <a:rPr lang="en-IN" sz="1800" dirty="0"/>
                        <a:t>Database Management</a:t>
                      </a:r>
                    </a:p>
                  </a:txBody>
                  <a:tcPr marL="90653" marR="90653" marT="45326" marB="45326" anchor="ctr"/>
                </a:tc>
                <a:tc>
                  <a:txBody>
                    <a:bodyPr/>
                    <a:lstStyle/>
                    <a:p>
                      <a:pPr>
                        <a:buNone/>
                      </a:pPr>
                      <a:r>
                        <a:rPr lang="en-IN" sz="1800" dirty="0"/>
                        <a:t>MySQL Workbench</a:t>
                      </a:r>
                    </a:p>
                  </a:txBody>
                  <a:tcPr marL="90653" marR="90653" marT="45326" marB="45326" anchor="ctr"/>
                </a:tc>
                <a:extLst>
                  <a:ext uri="{0D108BD9-81ED-4DB2-BD59-A6C34878D82A}">
                    <a16:rowId xmlns:a16="http://schemas.microsoft.com/office/drawing/2014/main" val="1925580609"/>
                  </a:ext>
                </a:extLst>
              </a:tr>
              <a:tr h="362611">
                <a:tc>
                  <a:txBody>
                    <a:bodyPr/>
                    <a:lstStyle/>
                    <a:p>
                      <a:pPr>
                        <a:buNone/>
                      </a:pPr>
                      <a:r>
                        <a:rPr lang="en-IN" sz="1800" dirty="0"/>
                        <a:t>API</a:t>
                      </a:r>
                    </a:p>
                  </a:txBody>
                  <a:tcPr marL="90653" marR="90653" marT="45326" marB="45326" anchor="ctr"/>
                </a:tc>
                <a:tc>
                  <a:txBody>
                    <a:bodyPr/>
                    <a:lstStyle/>
                    <a:p>
                      <a:pPr>
                        <a:buNone/>
                      </a:pPr>
                      <a:r>
                        <a:rPr lang="en-IN" sz="1800"/>
                        <a:t>REST API</a:t>
                      </a:r>
                    </a:p>
                  </a:txBody>
                  <a:tcPr marL="90653" marR="90653" marT="45326" marB="45326" anchor="ctr"/>
                </a:tc>
                <a:extLst>
                  <a:ext uri="{0D108BD9-81ED-4DB2-BD59-A6C34878D82A}">
                    <a16:rowId xmlns:a16="http://schemas.microsoft.com/office/drawing/2014/main" val="2812438729"/>
                  </a:ext>
                </a:extLst>
              </a:tr>
              <a:tr h="362611">
                <a:tc>
                  <a:txBody>
                    <a:bodyPr/>
                    <a:lstStyle/>
                    <a:p>
                      <a:pPr>
                        <a:buNone/>
                      </a:pPr>
                      <a:r>
                        <a:rPr lang="en-IN" sz="1800" dirty="0"/>
                        <a:t>Authentication</a:t>
                      </a:r>
                    </a:p>
                  </a:txBody>
                  <a:tcPr marL="90653" marR="90653" marT="45326" marB="45326" anchor="ctr"/>
                </a:tc>
                <a:tc>
                  <a:txBody>
                    <a:bodyPr/>
                    <a:lstStyle/>
                    <a:p>
                      <a:pPr>
                        <a:buNone/>
                      </a:pPr>
                      <a:r>
                        <a:rPr lang="en-IN" sz="1800" dirty="0"/>
                        <a:t>JWT </a:t>
                      </a:r>
                      <a:r>
                        <a:rPr lang="en-IN" dirty="0"/>
                        <a:t>+ </a:t>
                      </a:r>
                      <a:r>
                        <a:rPr lang="en-IN" dirty="0" err="1"/>
                        <a:t>bcrypt</a:t>
                      </a:r>
                      <a:endParaRPr lang="en-IN" dirty="0"/>
                    </a:p>
                  </a:txBody>
                  <a:tcPr marL="90653" marR="90653" marT="45326" marB="45326" anchor="ctr"/>
                </a:tc>
                <a:extLst>
                  <a:ext uri="{0D108BD9-81ED-4DB2-BD59-A6C34878D82A}">
                    <a16:rowId xmlns:a16="http://schemas.microsoft.com/office/drawing/2014/main" val="3627129321"/>
                  </a:ext>
                </a:extLst>
              </a:tr>
              <a:tr h="362611">
                <a:tc>
                  <a:txBody>
                    <a:bodyPr/>
                    <a:lstStyle/>
                    <a:p>
                      <a:pPr>
                        <a:buNone/>
                      </a:pPr>
                      <a:r>
                        <a:rPr lang="en-IN" dirty="0"/>
                        <a:t>Microservices</a:t>
                      </a:r>
                    </a:p>
                  </a:txBody>
                  <a:tcPr anchor="ctr"/>
                </a:tc>
                <a:tc>
                  <a:txBody>
                    <a:bodyPr/>
                    <a:lstStyle/>
                    <a:p>
                      <a:pPr>
                        <a:buNone/>
                      </a:pPr>
                      <a:r>
                        <a:rPr lang="en-IN" dirty="0"/>
                        <a:t>Auth Service + Booking Service</a:t>
                      </a:r>
                      <a:endParaRPr lang="en-IN" sz="1800" dirty="0"/>
                    </a:p>
                  </a:txBody>
                  <a:tcPr marL="90653" marR="90653" marT="45326" marB="45326" anchor="ctr"/>
                </a:tc>
                <a:extLst>
                  <a:ext uri="{0D108BD9-81ED-4DB2-BD59-A6C34878D82A}">
                    <a16:rowId xmlns:a16="http://schemas.microsoft.com/office/drawing/2014/main" val="2999200185"/>
                  </a:ext>
                </a:extLst>
              </a:tr>
              <a:tr h="362611">
                <a:tc>
                  <a:txBody>
                    <a:bodyPr/>
                    <a:lstStyle/>
                    <a:p>
                      <a:pPr>
                        <a:buNone/>
                      </a:pPr>
                      <a:r>
                        <a:rPr lang="en-IN" dirty="0"/>
                        <a:t>Containerization</a:t>
                      </a:r>
                    </a:p>
                  </a:txBody>
                  <a:tcPr anchor="ctr"/>
                </a:tc>
                <a:tc>
                  <a:txBody>
                    <a:bodyPr/>
                    <a:lstStyle/>
                    <a:p>
                      <a:pPr>
                        <a:buNone/>
                      </a:pPr>
                      <a:r>
                        <a:rPr lang="en-IN" dirty="0"/>
                        <a:t>Docker</a:t>
                      </a:r>
                      <a:endParaRPr lang="en-IN" sz="1800" dirty="0"/>
                    </a:p>
                  </a:txBody>
                  <a:tcPr marL="90653" marR="90653" marT="45326" marB="45326" anchor="ctr"/>
                </a:tc>
                <a:extLst>
                  <a:ext uri="{0D108BD9-81ED-4DB2-BD59-A6C34878D82A}">
                    <a16:rowId xmlns:a16="http://schemas.microsoft.com/office/drawing/2014/main" val="3595502627"/>
                  </a:ext>
                </a:extLst>
              </a:tr>
              <a:tr h="362611">
                <a:tc>
                  <a:txBody>
                    <a:bodyPr/>
                    <a:lstStyle/>
                    <a:p>
                      <a:pPr>
                        <a:buNone/>
                      </a:pPr>
                      <a:r>
                        <a:rPr lang="en-IN" sz="1800" dirty="0"/>
                        <a:t>API Testing</a:t>
                      </a:r>
                    </a:p>
                  </a:txBody>
                  <a:tcPr marL="90653" marR="90653" marT="45326" marB="45326" anchor="ctr"/>
                </a:tc>
                <a:tc>
                  <a:txBody>
                    <a:bodyPr/>
                    <a:lstStyle/>
                    <a:p>
                      <a:pPr>
                        <a:buNone/>
                      </a:pPr>
                      <a:r>
                        <a:rPr lang="en-IN" sz="1800"/>
                        <a:t>Postman</a:t>
                      </a:r>
                    </a:p>
                  </a:txBody>
                  <a:tcPr marL="90653" marR="90653" marT="45326" marB="45326" anchor="ctr"/>
                </a:tc>
                <a:extLst>
                  <a:ext uri="{0D108BD9-81ED-4DB2-BD59-A6C34878D82A}">
                    <a16:rowId xmlns:a16="http://schemas.microsoft.com/office/drawing/2014/main" val="1118532886"/>
                  </a:ext>
                </a:extLst>
              </a:tr>
              <a:tr h="362611">
                <a:tc>
                  <a:txBody>
                    <a:bodyPr/>
                    <a:lstStyle/>
                    <a:p>
                      <a:pPr>
                        <a:buNone/>
                      </a:pPr>
                      <a:r>
                        <a:rPr lang="en-IN" sz="1800" dirty="0"/>
                        <a:t>Version Control</a:t>
                      </a:r>
                    </a:p>
                  </a:txBody>
                  <a:tcPr marL="90653" marR="90653" marT="45326" marB="45326" anchor="ctr"/>
                </a:tc>
                <a:tc>
                  <a:txBody>
                    <a:bodyPr/>
                    <a:lstStyle/>
                    <a:p>
                      <a:pPr>
                        <a:buNone/>
                      </a:pPr>
                      <a:r>
                        <a:rPr lang="en-IN" sz="1800"/>
                        <a:t>Git, GitHub</a:t>
                      </a:r>
                    </a:p>
                  </a:txBody>
                  <a:tcPr marL="90653" marR="90653" marT="45326" marB="45326" anchor="ctr"/>
                </a:tc>
                <a:extLst>
                  <a:ext uri="{0D108BD9-81ED-4DB2-BD59-A6C34878D82A}">
                    <a16:rowId xmlns:a16="http://schemas.microsoft.com/office/drawing/2014/main" val="3078586692"/>
                  </a:ext>
                </a:extLst>
              </a:tr>
              <a:tr h="362611">
                <a:tc>
                  <a:txBody>
                    <a:bodyPr/>
                    <a:lstStyle/>
                    <a:p>
                      <a:pPr>
                        <a:buNone/>
                      </a:pPr>
                      <a:r>
                        <a:rPr lang="en-IN" sz="1800" dirty="0"/>
                        <a:t>Development Tool</a:t>
                      </a:r>
                    </a:p>
                  </a:txBody>
                  <a:tcPr marL="90653" marR="90653" marT="45326" marB="45326" anchor="ctr"/>
                </a:tc>
                <a:tc>
                  <a:txBody>
                    <a:bodyPr/>
                    <a:lstStyle/>
                    <a:p>
                      <a:pPr>
                        <a:buNone/>
                      </a:pPr>
                      <a:r>
                        <a:rPr lang="en-IN" sz="1800" dirty="0"/>
                        <a:t>Visual Studio Code</a:t>
                      </a:r>
                    </a:p>
                  </a:txBody>
                  <a:tcPr marL="90653" marR="90653" marT="45326" marB="45326" anchor="ctr"/>
                </a:tc>
                <a:extLst>
                  <a:ext uri="{0D108BD9-81ED-4DB2-BD59-A6C34878D82A}">
                    <a16:rowId xmlns:a16="http://schemas.microsoft.com/office/drawing/2014/main" val="3868141794"/>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ctrTitle"/>
          </p:nvPr>
        </p:nvSpPr>
        <p:spPr>
          <a:xfrm>
            <a:off x="1524000" y="406401"/>
            <a:ext cx="9144000" cy="1108364"/>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4" name="Subtitle 3">
            <a:extLst>
              <a:ext uri="{FF2B5EF4-FFF2-40B4-BE49-F238E27FC236}">
                <a16:creationId xmlns:a16="http://schemas.microsoft.com/office/drawing/2014/main" id="{0151F1E6-024A-550A-3641-EFA411A3EA97}"/>
              </a:ext>
            </a:extLst>
          </p:cNvPr>
          <p:cNvSpPr>
            <a:spLocks noGrp="1"/>
          </p:cNvSpPr>
          <p:nvPr>
            <p:ph type="subTitle" idx="1"/>
          </p:nvPr>
        </p:nvSpPr>
        <p:spPr>
          <a:xfrm>
            <a:off x="1524000" y="1385455"/>
            <a:ext cx="9144000" cy="5066144"/>
          </a:xfrm>
        </p:spPr>
        <p:txBody>
          <a:bodyPr>
            <a:normAutofit/>
          </a:bodyPr>
          <a:lstStyle/>
          <a:p>
            <a:pPr algn="l"/>
            <a:r>
              <a:rPr lang="en-IN" dirty="0"/>
              <a:t>The Travel Package Booking Portal provides a centralized platform for exploring travel packages, managing bookings, restaurants, tours, payments, and user information.</a:t>
            </a:r>
          </a:p>
          <a:p>
            <a:pPr algn="l"/>
            <a:r>
              <a:rPr lang="en-IN" dirty="0"/>
              <a:t>The system uses </a:t>
            </a:r>
            <a:r>
              <a:rPr lang="en-IN" b="1" dirty="0"/>
              <a:t>MySQL</a:t>
            </a:r>
            <a:r>
              <a:rPr lang="en-IN" dirty="0"/>
              <a:t> for structured data management and </a:t>
            </a:r>
            <a:r>
              <a:rPr lang="en-IN" b="1" dirty="0"/>
              <a:t>Node.js with Express.js</a:t>
            </a:r>
            <a:r>
              <a:rPr lang="en-IN" dirty="0"/>
              <a:t> for backend services. JWT authentication, REST APIs, microservices, Docker containerization, CRUD operations, database constraints, and transaction-based booking and payment workflows are implemented.</a:t>
            </a:r>
          </a:p>
          <a:p>
            <a:pPr algn="l"/>
            <a:r>
              <a:rPr lang="en-IN" dirty="0"/>
              <a:t>The project demonstrates the practical application of </a:t>
            </a:r>
            <a:r>
              <a:rPr lang="en-IN" b="1" dirty="0"/>
              <a:t>Database Systems Engineering and Distributed Backend Development</a:t>
            </a:r>
            <a:r>
              <a:rPr lang="en-IN" dirty="0"/>
              <a:t> concepts in a real-world travel booking system.</a:t>
            </a:r>
          </a:p>
          <a:p>
            <a:pPr algn="l"/>
            <a:endParaRPr lang="en-IN" dirty="0"/>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p:txBody>
          <a:bodyPr/>
          <a:lstStyle/>
          <a:p>
            <a:pPr>
              <a:spcAft>
                <a:spcPts val="600"/>
              </a:spcAft>
            </a:pPr>
            <a:fld id="{B961B71F-4B40-8942-BB88-E0F5C0B46E10}" type="slidenum">
              <a:rPr lang="en-US" smtClean="0"/>
              <a:pPr>
                <a:spcAft>
                  <a:spcPts val="600"/>
                </a:spcAft>
              </a:pPr>
              <a:t>11</a:t>
            </a:fld>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FCA3B6-F378-CB0F-4C2D-42CD642D2925}"/>
              </a:ext>
            </a:extLst>
          </p:cNvPr>
          <p:cNvSpPr>
            <a:spLocks noGrp="1"/>
          </p:cNvSpPr>
          <p:nvPr>
            <p:ph idx="1"/>
          </p:nvPr>
        </p:nvSpPr>
        <p:spPr>
          <a:xfrm>
            <a:off x="838200" y="979055"/>
            <a:ext cx="10515600" cy="5197908"/>
          </a:xfrm>
        </p:spPr>
        <p:txBody>
          <a:bodyPr>
            <a:normAutofit fontScale="85000" lnSpcReduction="10000"/>
          </a:bodyPr>
          <a:lstStyle/>
          <a:p>
            <a:r>
              <a:rPr lang="en-IN" b="1" dirty="0"/>
              <a:t>Future Scope</a:t>
            </a:r>
          </a:p>
          <a:p>
            <a:pPr lvl="0"/>
            <a:r>
              <a:rPr lang="en-IN" b="1" dirty="0"/>
              <a:t>AI-Based Recommendations</a:t>
            </a:r>
            <a:r>
              <a:rPr lang="en-IN" dirty="0"/>
              <a:t> – Recommend packages based on user preferences and booking history. </a:t>
            </a:r>
          </a:p>
          <a:p>
            <a:pPr lvl="0"/>
            <a:r>
              <a:rPr lang="en-IN" b="1" dirty="0"/>
              <a:t>Real-Time Availability</a:t>
            </a:r>
            <a:r>
              <a:rPr lang="en-IN" dirty="0"/>
              <a:t> – Provide live availability for hotels, transportation and packages. </a:t>
            </a:r>
          </a:p>
          <a:p>
            <a:pPr lvl="0"/>
            <a:r>
              <a:rPr lang="en-IN" b="1" dirty="0"/>
              <a:t>Mobile Application</a:t>
            </a:r>
            <a:r>
              <a:rPr lang="en-IN" dirty="0"/>
              <a:t> – Extend the platform to Android and iOS. </a:t>
            </a:r>
          </a:p>
          <a:p>
            <a:pPr lvl="0"/>
            <a:r>
              <a:rPr lang="en-IN" b="1" dirty="0"/>
              <a:t>Multilingual Support</a:t>
            </a:r>
            <a:r>
              <a:rPr lang="en-IN" dirty="0"/>
              <a:t> – Support multiple regional and international languages. </a:t>
            </a:r>
          </a:p>
          <a:p>
            <a:pPr lvl="0"/>
            <a:r>
              <a:rPr lang="en-IN" b="1" dirty="0"/>
              <a:t>Real-Time Notifications</a:t>
            </a:r>
            <a:r>
              <a:rPr lang="en-IN" dirty="0"/>
              <a:t> – Send booking confirmations, reminders and updates. </a:t>
            </a:r>
          </a:p>
          <a:p>
            <a:pPr lvl="0"/>
            <a:r>
              <a:rPr lang="en-IN" b="1" dirty="0"/>
              <a:t>Advanced Analytics</a:t>
            </a:r>
            <a:r>
              <a:rPr lang="en-IN" dirty="0"/>
              <a:t> – Provide booking, revenue and customer preference analytics. </a:t>
            </a:r>
          </a:p>
          <a:p>
            <a:pPr lvl="0"/>
            <a:r>
              <a:rPr lang="en-IN" b="1" dirty="0"/>
              <a:t>Cloud Deployment</a:t>
            </a:r>
            <a:r>
              <a:rPr lang="en-IN" dirty="0"/>
              <a:t> – Deploy backend services on cloud infrastructure. </a:t>
            </a:r>
          </a:p>
          <a:p>
            <a:pPr lvl="0"/>
            <a:r>
              <a:rPr lang="en-IN" b="1" dirty="0"/>
              <a:t>Advanced Map Integration</a:t>
            </a:r>
            <a:r>
              <a:rPr lang="en-IN" dirty="0"/>
              <a:t> – Provide interactive maps, routes and location-based travel information. </a:t>
            </a:r>
          </a:p>
          <a:p>
            <a:pPr marL="0" indent="0">
              <a:buNone/>
            </a:pPr>
            <a:endParaRPr lang="en-IN" dirty="0"/>
          </a:p>
        </p:txBody>
      </p:sp>
      <p:sp>
        <p:nvSpPr>
          <p:cNvPr id="4" name="Date Placeholder 3">
            <a:extLst>
              <a:ext uri="{FF2B5EF4-FFF2-40B4-BE49-F238E27FC236}">
                <a16:creationId xmlns:a16="http://schemas.microsoft.com/office/drawing/2014/main" id="{FC395CDC-A1BE-7441-8912-83A47194F099}"/>
              </a:ext>
            </a:extLst>
          </p:cNvPr>
          <p:cNvSpPr>
            <a:spLocks noGrp="1"/>
          </p:cNvSpPr>
          <p:nvPr>
            <p:ph type="dt" sz="half" idx="10"/>
          </p:nvPr>
        </p:nvSpPr>
        <p:spPr/>
        <p:txBody>
          <a:bodyPr/>
          <a:lstStyle/>
          <a:p>
            <a:fld id="{B119A7DA-FCDD-43FA-8A0C-6A5B2B391695}" type="datetime1">
              <a:rPr lang="en-IN" smtClean="0"/>
              <a:t>03-10-2026</a:t>
            </a:fld>
            <a:endParaRPr lang="en-US"/>
          </a:p>
        </p:txBody>
      </p:sp>
      <p:sp>
        <p:nvSpPr>
          <p:cNvPr id="5" name="Footer Placeholder 4">
            <a:extLst>
              <a:ext uri="{FF2B5EF4-FFF2-40B4-BE49-F238E27FC236}">
                <a16:creationId xmlns:a16="http://schemas.microsoft.com/office/drawing/2014/main" id="{99C8FD44-7F34-F919-B106-0C6E50EDF67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421D75F-86CB-15E0-413F-D0B62E2D9E2C}"/>
              </a:ext>
            </a:extLst>
          </p:cNvPr>
          <p:cNvSpPr>
            <a:spLocks noGrp="1"/>
          </p:cNvSpPr>
          <p:nvPr>
            <p:ph type="sldNum" sz="quarter" idx="12"/>
          </p:nvPr>
        </p:nvSpPr>
        <p:spPr/>
        <p:txBody>
          <a:bodyPr/>
          <a:lstStyle/>
          <a:p>
            <a:fld id="{D6396F81-1074-6B40-A92F-A06CCD3B4178}" type="slidenum">
              <a:rPr lang="en-US" smtClean="0"/>
              <a:t>12</a:t>
            </a:fld>
            <a:endParaRPr lang="en-US"/>
          </a:p>
        </p:txBody>
      </p:sp>
    </p:spTree>
    <p:extLst>
      <p:ext uri="{BB962C8B-B14F-4D97-AF65-F5344CB8AC3E}">
        <p14:creationId xmlns:p14="http://schemas.microsoft.com/office/powerpoint/2010/main" val="28630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8273</TotalTime>
  <Words>1365</Words>
  <Application>Microsoft Office PowerPoint</Application>
  <PresentationFormat>Widescreen</PresentationFormat>
  <Paragraphs>144</Paragraphs>
  <Slides>13</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DATABASE SYSTEMS ENGINEERING AND DISTRIBUTED BACKEND DEVELOPMENT (25CS1302E) TRAVEL PACKAGE BOOKING PORTAL </vt:lpstr>
      <vt:lpstr>GROUP NUMBER:22</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chandana devi</cp:lastModifiedBy>
  <cp:revision>102</cp:revision>
  <dcterms:created xsi:type="dcterms:W3CDTF">2022-05-20T10:20:31Z</dcterms:created>
  <dcterms:modified xsi:type="dcterms:W3CDTF">2026-10-03T08:41:00Z</dcterms:modified>
</cp:coreProperties>
</file>