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6"/>
  </p:notesMasterIdLst>
  <p:handoutMasterIdLst>
    <p:handoutMasterId r:id="rId17"/>
  </p:handoutMasterIdLst>
  <p:sldIdLst>
    <p:sldId id="258" r:id="rId3"/>
    <p:sldId id="377" r:id="rId4"/>
    <p:sldId id="391" r:id="rId5"/>
    <p:sldId id="392" r:id="rId6"/>
    <p:sldId id="393" r:id="rId7"/>
    <p:sldId id="394" r:id="rId8"/>
    <p:sldId id="395" r:id="rId9"/>
    <p:sldId id="396" r:id="rId10"/>
    <p:sldId id="398" r:id="rId11"/>
    <p:sldId id="397" r:id="rId12"/>
    <p:sldId id="374" r:id="rId13"/>
    <p:sldId id="399" r:id="rId14"/>
    <p:sldId id="33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370" autoAdjust="0"/>
    <p:restoredTop sz="95033" autoAdjust="0"/>
  </p:normalViewPr>
  <p:slideViewPr>
    <p:cSldViewPr snapToGrid="0" snapToObjects="1">
      <p:cViewPr varScale="1">
        <p:scale>
          <a:sx n="83" d="100"/>
          <a:sy n="83" d="100"/>
        </p:scale>
        <p:origin x="72" y="235"/>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8/28/2026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28-08-2026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28-08-2026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28-08-2026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28-08-2026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28-08-2026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28-08-2026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28-08-2026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28-08-2026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28-08-2026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28-08-2026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28-08-2026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28-08-2026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28-08-2026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28-08-2026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28-08-2026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28-08-2026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28-08-2026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28-08-2026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606175"/>
            <a:ext cx="10392383" cy="471063"/>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dirty="0">
                <a:latin typeface="+mn-lt"/>
                <a:cs typeface="Arial" panose="020B0604020202020204" pitchFamily="34" charset="0"/>
              </a:rPr>
            </a:br>
            <a:r>
              <a:rPr lang="en-US" sz="2400" b="1" dirty="0">
                <a:ea typeface="+mn-lt"/>
                <a:cs typeface="+mn-lt"/>
              </a:rPr>
              <a:t>DATABASE SYSTEMS ENGINEERING AND DISTRIBUTED BACKEND DEVELOPMENT (25CS1302E</a:t>
            </a:r>
            <a:r>
              <a:rPr lang="en-US" sz="1800" b="1" dirty="0">
                <a:ea typeface="+mn-lt"/>
                <a:cs typeface="+mn-lt"/>
              </a:rPr>
              <a:t>)</a:t>
            </a:r>
            <a:br>
              <a:rPr lang="en-US" sz="2400" dirty="0">
                <a:solidFill>
                  <a:srgbClr val="FF0000"/>
                </a:solidFill>
                <a:latin typeface="+mn-lt"/>
                <a:cs typeface="Arial" panose="020B0604020202020204" pitchFamily="34" charset="0"/>
              </a:rPr>
            </a:br>
            <a:r>
              <a:rPr lang="en-US" sz="2400" dirty="0">
                <a:solidFill>
                  <a:srgbClr val="FF0000"/>
                </a:solidFill>
                <a:latin typeface="+mn-lt"/>
                <a:cs typeface="Arial" panose="020B0604020202020204" pitchFamily="34" charset="0"/>
              </a:rPr>
              <a:t>TRAVEL PACKAGE BOOKING PORTAL</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Dr. Y Prasanthi</a:t>
            </a:r>
          </a:p>
          <a:p>
            <a:pPr marL="0" indent="0" algn="ctr">
              <a:buFont typeface="Arial" panose="020B0604020202020204" pitchFamily="34" charset="0"/>
              <a:buNone/>
            </a:pPr>
            <a:r>
              <a:rPr lang="en-US" sz="2400" dirty="0">
                <a:solidFill>
                  <a:srgbClr val="00B050"/>
                </a:solidFill>
              </a:rPr>
              <a:t>Assistant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415189560"/>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Ramisetty </a:t>
                      </a:r>
                      <a:r>
                        <a:rPr lang="en-US" dirty="0" err="1"/>
                        <a:t>Samshritha</a:t>
                      </a:r>
                      <a:r>
                        <a:rPr lang="en-US" dirty="0"/>
                        <a:t> </a:t>
                      </a:r>
                    </a:p>
                  </a:txBody>
                  <a:tcPr/>
                </a:tc>
                <a:tc>
                  <a:txBody>
                    <a:bodyPr/>
                    <a:lstStyle/>
                    <a:p>
                      <a:r>
                        <a:rPr lang="en-US" dirty="0"/>
                        <a:t>2520030045</a:t>
                      </a:r>
                    </a:p>
                  </a:txBody>
                  <a:tcPr/>
                </a:tc>
                <a:extLst>
                  <a:ext uri="{0D108BD9-81ED-4DB2-BD59-A6C34878D82A}">
                    <a16:rowId xmlns:a16="http://schemas.microsoft.com/office/drawing/2014/main" val="253518174"/>
                  </a:ext>
                </a:extLst>
              </a:tr>
              <a:tr h="370840">
                <a:tc>
                  <a:txBody>
                    <a:bodyPr/>
                    <a:lstStyle/>
                    <a:p>
                      <a:r>
                        <a:rPr lang="en-US" dirty="0"/>
                        <a:t>Nakshatra Edara</a:t>
                      </a:r>
                    </a:p>
                  </a:txBody>
                  <a:tcPr/>
                </a:tc>
                <a:tc>
                  <a:txBody>
                    <a:bodyPr/>
                    <a:lstStyle/>
                    <a:p>
                      <a:r>
                        <a:rPr lang="en-US" dirty="0"/>
                        <a:t>2520030090</a:t>
                      </a:r>
                    </a:p>
                  </a:txBody>
                  <a:tcPr/>
                </a:tc>
                <a:extLst>
                  <a:ext uri="{0D108BD9-81ED-4DB2-BD59-A6C34878D82A}">
                    <a16:rowId xmlns:a16="http://schemas.microsoft.com/office/drawing/2014/main" val="2413438055"/>
                  </a:ext>
                </a:extLst>
              </a:tr>
              <a:tr h="370840">
                <a:tc>
                  <a:txBody>
                    <a:bodyPr/>
                    <a:lstStyle/>
                    <a:p>
                      <a:r>
                        <a:rPr lang="en-US" dirty="0"/>
                        <a:t>Gundla Laxmi Sri</a:t>
                      </a:r>
                    </a:p>
                  </a:txBody>
                  <a:tcPr/>
                </a:tc>
                <a:tc>
                  <a:txBody>
                    <a:bodyPr/>
                    <a:lstStyle/>
                    <a:p>
                      <a:r>
                        <a:rPr lang="en-US" dirty="0"/>
                        <a:t>2520030264</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NUMBER:22</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182087974"/>
              </p:ext>
            </p:extLst>
          </p:nvPr>
        </p:nvGraphicFramePr>
        <p:xfrm>
          <a:off x="960582" y="1416193"/>
          <a:ext cx="10393217" cy="2980316"/>
        </p:xfrm>
        <a:graphic>
          <a:graphicData uri="http://schemas.openxmlformats.org/drawingml/2006/table">
            <a:tbl>
              <a:tblPr firstRow="1" bandRow="1">
                <a:tableStyleId>{5A111915-BE36-4E01-A7E5-04B1672EAD32}</a:tableStyleId>
              </a:tblPr>
              <a:tblGrid>
                <a:gridCol w="5089236">
                  <a:extLst>
                    <a:ext uri="{9D8B030D-6E8A-4147-A177-3AD203B41FA5}">
                      <a16:colId xmlns:a16="http://schemas.microsoft.com/office/drawing/2014/main" val="446563831"/>
                    </a:ext>
                  </a:extLst>
                </a:gridCol>
                <a:gridCol w="5303981">
                  <a:extLst>
                    <a:ext uri="{9D8B030D-6E8A-4147-A177-3AD203B41FA5}">
                      <a16:colId xmlns:a16="http://schemas.microsoft.com/office/drawing/2014/main" val="4175382372"/>
                    </a:ext>
                  </a:extLst>
                </a:gridCol>
              </a:tblGrid>
              <a:tr h="5403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813324">
                <a:tc>
                  <a:txBody>
                    <a:bodyPr/>
                    <a:lstStyle/>
                    <a:p>
                      <a:r>
                        <a:rPr lang="en-US" dirty="0"/>
                        <a:t>Ramisetty </a:t>
                      </a:r>
                      <a:r>
                        <a:rPr lang="en-US" dirty="0" err="1"/>
                        <a:t>Samshritha</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Abstract, Introduction, Solution(Contribution)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813324">
                <a:tc>
                  <a:txBody>
                    <a:bodyPr/>
                    <a:lstStyle/>
                    <a:p>
                      <a:r>
                        <a:rPr lang="en-US" dirty="0"/>
                        <a:t>Nakshatra Edara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Existing System, Modules, Software Requirements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8133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Laxmi Sri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solidFill>
                            <a:schemeClr val="tx1">
                              <a:alpha val="31000"/>
                            </a:schemeClr>
                          </a:solidFill>
                        </a:rPr>
                        <a:t>Problem, Objectives</a:t>
                      </a:r>
                      <a:r>
                        <a:rPr lang="en-US" b="0">
                          <a:solidFill>
                            <a:schemeClr val="tx1">
                              <a:alpha val="31000"/>
                            </a:schemeClr>
                          </a:solidFill>
                        </a:rPr>
                        <a:t>, Conclusion and Future Scope </a:t>
                      </a:r>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dirty="0"/>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p:txBody>
          <a:bodyPr>
            <a:normAutofit fontScale="77500" lnSpcReduction="20000"/>
          </a:bodyPr>
          <a:lstStyle/>
          <a:p>
            <a:r>
              <a:rPr lang="en-US" dirty="0">
                <a:latin typeface="Times New Roman"/>
                <a:cs typeface="Times New Roman"/>
              </a:rPr>
              <a:t>The Travel Package Booking Portal is a web-based application designed to simplify and improve the process of planning and booking travel packages. Traditional travel booking often requires customers to visit multiple websites or contact travel agencies to compare destinations, packages, prices, accommodations, and activities. This can be time-consuming and inconvenient. The proposed system provides a centralized platform where users can explore available travel packages, view detailed information, compare prices, select suitable packages, and make bookings online. Users can create accounts, manage their bookings, and receive booking confirmations.</a:t>
            </a:r>
            <a:br>
              <a:rPr lang="en-US" dirty="0">
                <a:latin typeface="Times New Roman"/>
                <a:cs typeface="Times New Roman"/>
              </a:rPr>
            </a:br>
            <a:br>
              <a:rPr lang="en-US" dirty="0">
                <a:latin typeface="Times New Roman"/>
                <a:cs typeface="Times New Roman"/>
              </a:rPr>
            </a:br>
            <a:r>
              <a:rPr lang="en-US" dirty="0">
                <a:latin typeface="Times New Roman"/>
                <a:cs typeface="Times New Roman"/>
              </a:rPr>
              <a:t> </a:t>
            </a:r>
            <a:br>
              <a:rPr lang="en-US" dirty="0">
                <a:latin typeface="Times New Roman"/>
                <a:cs typeface="Times New Roman"/>
              </a:rPr>
            </a:br>
            <a:r>
              <a:rPr lang="en-US" dirty="0">
                <a:latin typeface="Times New Roman"/>
                <a:ea typeface="+mj-lt"/>
                <a:cs typeface="Times New Roman"/>
              </a:rPr>
              <a:t>An administrator can manage destinations, travel packages, customer details, bookings, and package availability through an admin panel. The portal aims to provide a user-friendly, efficient, and transparent travel booking experience while reducing manual work for travel agencies. By integrating package management, customer management, and booking functionalities into a single system, the travel package booking portal helps users make informed travel decisions and enables administrators to manage travel services effectively.</a:t>
            </a:r>
            <a:endParaRPr lang="en-US" dirty="0"/>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normAutofit fontScale="77500" lnSpcReduction="20000"/>
          </a:bodyPr>
          <a:lstStyle/>
          <a:p>
            <a:r>
              <a:rPr lang="en-IN" dirty="0"/>
              <a:t>The Travel Package Booking Portal is a web-based system developed to make the process of searching and booking travel packages easier, faster, and more efficient. Traditional travel booking methods often require customers to visit travel agencies or contact multiple service providers to collect information about destinations, prices, accommodation, transportation, and available activities. This can be time-consuming and difficult to manage.</a:t>
            </a:r>
          </a:p>
          <a:p>
            <a:r>
              <a:rPr lang="en-IN" dirty="0"/>
              <a:t>The proposed portal provides a centralized platform where users can register, log in, explore available travel packages, view package details, compare options, and make bookings online. The system uses a structured database to store and manage important information such as customer details, travel packages, destinations, bookings, payments, and availability.</a:t>
            </a:r>
          </a:p>
          <a:p>
            <a:r>
              <a:rPr lang="en-IN" dirty="0"/>
              <a:t>As part of Database Systems Engineering and Distributed Backend Development, the project focuses on database design, data integrity, CRUD operations, transaction management, and efficient backend services. A distributed backend approach can improve scalability, reliability, and performance when multiple users access the system simultaneously. The portal aims to provide a secure, reliable, and user-friendly solution for both </a:t>
            </a:r>
            <a:r>
              <a:rPr lang="en-IN" dirty="0" err="1"/>
              <a:t>travelers</a:t>
            </a:r>
            <a:r>
              <a:rPr lang="en-IN" dirty="0"/>
              <a:t> and administrators.</a:t>
            </a:r>
          </a:p>
          <a:p>
            <a:pPr marL="0" indent="0">
              <a:buNone/>
            </a:pPr>
            <a:endParaRPr lang="en-US" dirty="0"/>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p:txBody>
          <a:bodyPr>
            <a:normAutofit fontScale="92500" lnSpcReduction="10000"/>
          </a:bodyPr>
          <a:lstStyle/>
          <a:p>
            <a:r>
              <a:rPr lang="en-IN" dirty="0"/>
              <a:t>In the existing system, travel package bookings are commonly managed through traditional travel agencies, phone calls, emails, or separate online platforms. Customers need to search through different sources to find information about destinations, accommodation, transportation, prices, and activities. In many cases, booking information is maintained manually or across multiple systems, which can lead to data duplication, delays, and errors.</a:t>
            </a:r>
          </a:p>
          <a:p>
            <a:r>
              <a:rPr lang="en-IN" dirty="0"/>
              <a:t>The existing approach may also have limited integration between customer information, package availability, and booking records. Updating package details and availability can be difficult when multiple users or travel agents access the system simultaneously. Manual processing can increase the chances of incorrect bookings, data inconsistency, and loss of information.</a:t>
            </a:r>
          </a:p>
          <a:p>
            <a:endParaRPr lang="en-US" dirty="0"/>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a:normAutofit fontScale="85000" lnSpcReduction="10000"/>
          </a:bodyPr>
          <a:lstStyle/>
          <a:p>
            <a:r>
              <a:rPr lang="en-IN" dirty="0"/>
              <a:t>The traditional travel booking process involves searching for travel packages from multiple sources, communicating with travel agencies, and manually managing booking information. This makes the process time-consuming and may result in incorrect, duplicated, or outdated data. Travel service providers also face difficulties in efficiently managing large amounts of customer, package, availability, and booking information.</a:t>
            </a:r>
          </a:p>
          <a:p>
            <a:r>
              <a:rPr lang="en-IN" dirty="0"/>
              <a:t>There is a need for a centralized Travel Package Booking Portal that can efficiently store, retrieve, and manage travel-related data using a well-designed database and reliable backend services. The system should provide accurate package availability, simplify the booking process, maintain data consistency, and support multiple users simultaneously. By applying Database Systems Engineering and Distributed Backend Development concepts, the proposed system aims to provide a scalable, secure, reliable, and efficient platform for managing travel packages and online bookings.</a:t>
            </a:r>
          </a:p>
          <a:p>
            <a:endParaRPr lang="en-US" dirty="0"/>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a:normAutofit fontScale="62500" lnSpcReduction="20000"/>
          </a:bodyPr>
          <a:lstStyle/>
          <a:p>
            <a:r>
              <a:rPr lang="en-IN" dirty="0"/>
              <a:t>The proposed Travel Package Booking Portal provides a centralized and efficient solution for managing travel packages and online bookings. The system uses a well-structured database to store and organize user details, travel packages, destinations, booking records, payments, and package availability.</a:t>
            </a:r>
          </a:p>
          <a:p>
            <a:r>
              <a:rPr lang="en-IN" b="1" dirty="0"/>
              <a:t>Key Contributions</a:t>
            </a:r>
          </a:p>
          <a:p>
            <a:pPr lvl="0"/>
            <a:r>
              <a:rPr lang="en-IN" b="1" dirty="0"/>
              <a:t>Centralized Database:</a:t>
            </a:r>
            <a:r>
              <a:rPr lang="en-IN" dirty="0"/>
              <a:t> Stores all travel, customer, and booking information in an organized manner.</a:t>
            </a:r>
          </a:p>
          <a:p>
            <a:pPr lvl="0"/>
            <a:r>
              <a:rPr lang="en-IN" b="1" dirty="0"/>
              <a:t>Online Package Search:</a:t>
            </a:r>
            <a:r>
              <a:rPr lang="en-IN" dirty="0"/>
              <a:t> Allows users to easily search and filter packages based on destination, budget, and duration.</a:t>
            </a:r>
          </a:p>
          <a:p>
            <a:pPr lvl="0"/>
            <a:r>
              <a:rPr lang="en-IN" b="1" dirty="0"/>
              <a:t>Booking Management:</a:t>
            </a:r>
            <a:r>
              <a:rPr lang="en-IN" dirty="0"/>
              <a:t> Enables users to book packages and view or manage their booking details.</a:t>
            </a:r>
          </a:p>
          <a:p>
            <a:pPr lvl="0"/>
            <a:r>
              <a:rPr lang="en-IN" b="1" dirty="0"/>
              <a:t>Admin Management:</a:t>
            </a:r>
            <a:r>
              <a:rPr lang="en-IN" dirty="0"/>
              <a:t> Provides administrators with facilities to add, update, delete, and manage travel packages and bookings.</a:t>
            </a:r>
          </a:p>
          <a:p>
            <a:pPr lvl="0"/>
            <a:r>
              <a:rPr lang="en-IN" b="1" dirty="0"/>
              <a:t>Data Integrity:</a:t>
            </a:r>
            <a:r>
              <a:rPr lang="en-IN" dirty="0"/>
              <a:t> Uses database constraints and transactions to maintain accurate and consistent booking information.</a:t>
            </a:r>
          </a:p>
          <a:p>
            <a:pPr lvl="0"/>
            <a:r>
              <a:rPr lang="en-IN" b="1" dirty="0"/>
              <a:t>Distributed Backend:</a:t>
            </a:r>
            <a:r>
              <a:rPr lang="en-IN" dirty="0"/>
              <a:t> Uses backend services/APIs to handle user requests efficiently and support multiple users.</a:t>
            </a:r>
          </a:p>
          <a:p>
            <a:pPr lvl="0"/>
            <a:endParaRPr lang="en-IN" dirty="0"/>
          </a:p>
          <a:p>
            <a:endParaRPr lang="en-US" dirty="0"/>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normAutofit fontScale="77500" lnSpcReduction="20000"/>
          </a:bodyPr>
          <a:lstStyle/>
          <a:p>
            <a:r>
              <a:rPr lang="en-US" dirty="0">
                <a:latin typeface="Times New Roman"/>
                <a:ea typeface="+mj-lt"/>
                <a:cs typeface="Times New Roman"/>
              </a:rPr>
              <a:t>To develop a secure and reliable backend system for managing travel packages and bookings. </a:t>
            </a:r>
            <a:endParaRPr lang="en-US" dirty="0">
              <a:latin typeface="Times New Roman"/>
              <a:cs typeface="Times New Roman"/>
            </a:endParaRPr>
          </a:p>
          <a:p>
            <a:r>
              <a:rPr lang="en-US" dirty="0">
                <a:latin typeface="Times New Roman"/>
                <a:ea typeface="+mj-lt"/>
                <a:cs typeface="Times New Roman"/>
              </a:rPr>
              <a:t>To design a normalized relational database for users, packages, hotels, buses, restaurants, and bookings. </a:t>
            </a:r>
          </a:p>
          <a:p>
            <a:r>
              <a:rPr lang="en-US" dirty="0">
                <a:latin typeface="Times New Roman"/>
                <a:ea typeface="+mj-lt"/>
                <a:cs typeface="Times New Roman"/>
              </a:rPr>
              <a:t>To provide RESTful APIs for travel package, hotel, transportation, restaurant, and booking management. </a:t>
            </a:r>
            <a:endParaRPr lang="en-US" dirty="0">
              <a:latin typeface="Times New Roman"/>
              <a:cs typeface="Times New Roman"/>
            </a:endParaRPr>
          </a:p>
          <a:p>
            <a:r>
              <a:rPr lang="en-US" dirty="0">
                <a:latin typeface="Times New Roman"/>
                <a:ea typeface="+mj-lt"/>
                <a:cs typeface="Times New Roman"/>
              </a:rPr>
              <a:t>To implement authentication, authorization, JWT, RBAC, and password hashing for secure access. </a:t>
            </a:r>
            <a:endParaRPr lang="en-US" dirty="0">
              <a:latin typeface="Times New Roman"/>
              <a:cs typeface="Times New Roman"/>
            </a:endParaRPr>
          </a:p>
          <a:p>
            <a:r>
              <a:rPr lang="en-US" dirty="0">
                <a:latin typeface="Times New Roman"/>
                <a:ea typeface="+mj-lt"/>
                <a:cs typeface="Times New Roman"/>
              </a:rPr>
              <a:t>To integrate SQL and NoSQL databases for structured and flexible data management. </a:t>
            </a:r>
            <a:endParaRPr lang="en-US" dirty="0">
              <a:latin typeface="Times New Roman"/>
              <a:cs typeface="Times New Roman"/>
            </a:endParaRPr>
          </a:p>
          <a:p>
            <a:r>
              <a:rPr lang="en-US" dirty="0">
                <a:latin typeface="Times New Roman"/>
                <a:ea typeface="+mj-lt"/>
                <a:cs typeface="Times New Roman"/>
              </a:rPr>
              <a:t>To apply transactions, validation, indexing, and advanced SQL for efficient and consistent operations. </a:t>
            </a:r>
            <a:endParaRPr lang="en-US" dirty="0">
              <a:latin typeface="Times New Roman"/>
              <a:cs typeface="Times New Roman"/>
            </a:endParaRPr>
          </a:p>
          <a:p>
            <a:r>
              <a:rPr lang="en-US" dirty="0">
                <a:latin typeface="Times New Roman"/>
                <a:ea typeface="+mj-lt"/>
                <a:cs typeface="Times New Roman"/>
              </a:rPr>
              <a:t>To implement proper testing, documentation, </a:t>
            </a:r>
            <a:r>
              <a:rPr lang="en-US" dirty="0" err="1">
                <a:latin typeface="Times New Roman"/>
                <a:ea typeface="+mj-lt"/>
                <a:cs typeface="Times New Roman"/>
              </a:rPr>
              <a:t>containerisation</a:t>
            </a:r>
            <a:r>
              <a:rPr lang="en-US" dirty="0">
                <a:latin typeface="Times New Roman"/>
                <a:ea typeface="+mj-lt"/>
                <a:cs typeface="Times New Roman"/>
              </a:rPr>
              <a:t>, and deployment practices. </a:t>
            </a:r>
            <a:endParaRPr lang="en-US" dirty="0"/>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p:txBody>
          <a:bodyPr>
            <a:normAutofit fontScale="92500" lnSpcReduction="20000"/>
          </a:bodyPr>
          <a:lstStyle/>
          <a:p>
            <a:pPr lvl="0"/>
            <a:r>
              <a:rPr lang="en-IN" b="1" dirty="0"/>
              <a:t>User Management</a:t>
            </a:r>
            <a:br>
              <a:rPr lang="en-IN" dirty="0"/>
            </a:br>
            <a:r>
              <a:rPr lang="en-IN" dirty="0"/>
              <a:t>Registration, login, profiles, JWT authentication. </a:t>
            </a:r>
          </a:p>
          <a:p>
            <a:pPr lvl="0"/>
            <a:r>
              <a:rPr lang="en-IN" b="1" dirty="0"/>
              <a:t>Package Management</a:t>
            </a:r>
            <a:br>
              <a:rPr lang="en-IN" dirty="0"/>
            </a:br>
            <a:r>
              <a:rPr lang="en-IN" dirty="0"/>
              <a:t>Add, update, delete, and view travel packages. </a:t>
            </a:r>
          </a:p>
          <a:p>
            <a:pPr lvl="0"/>
            <a:r>
              <a:rPr lang="en-IN" b="1" dirty="0"/>
              <a:t>Destination Management</a:t>
            </a:r>
            <a:br>
              <a:rPr lang="en-IN" dirty="0"/>
            </a:br>
            <a:r>
              <a:rPr lang="en-IN" dirty="0"/>
              <a:t>Manage destinations, locations, descriptions, and activities. </a:t>
            </a:r>
          </a:p>
          <a:p>
            <a:pPr lvl="0"/>
            <a:r>
              <a:rPr lang="en-IN" b="1" dirty="0"/>
              <a:t>Booking Management</a:t>
            </a:r>
            <a:br>
              <a:rPr lang="en-IN" dirty="0"/>
            </a:br>
            <a:r>
              <a:rPr lang="en-IN" dirty="0"/>
              <a:t>Package booking, cancellation, booking history, and status. </a:t>
            </a:r>
          </a:p>
          <a:p>
            <a:pPr lvl="0"/>
            <a:r>
              <a:rPr lang="en-IN" b="1" dirty="0"/>
              <a:t>Search &amp; Recommendation</a:t>
            </a:r>
            <a:br>
              <a:rPr lang="en-IN" dirty="0"/>
            </a:br>
            <a:r>
              <a:rPr lang="en-IN" dirty="0"/>
              <a:t>Package search, filtering, and optionally vector-based semantic search. </a:t>
            </a:r>
          </a:p>
          <a:p>
            <a:pPr lvl="0"/>
            <a:r>
              <a:rPr lang="en-IN" b="1" dirty="0"/>
              <a:t>API Management</a:t>
            </a:r>
            <a:br>
              <a:rPr lang="en-IN" dirty="0"/>
            </a:br>
            <a:r>
              <a:rPr lang="en-IN" dirty="0"/>
              <a:t>REST APIs using </a:t>
            </a:r>
            <a:r>
              <a:rPr lang="en-IN" dirty="0" err="1"/>
              <a:t>FastAPI</a:t>
            </a:r>
            <a:r>
              <a:rPr lang="en-IN" dirty="0"/>
              <a:t> for communication between frontend and backend.</a:t>
            </a:r>
          </a:p>
          <a:p>
            <a:endParaRPr lang="en-US" dirty="0"/>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graphicFrame>
        <p:nvGraphicFramePr>
          <p:cNvPr id="8" name="Content Placeholder 7">
            <a:extLst>
              <a:ext uri="{FF2B5EF4-FFF2-40B4-BE49-F238E27FC236}">
                <a16:creationId xmlns:a16="http://schemas.microsoft.com/office/drawing/2014/main" id="{A7A6EDA6-B95D-6060-8DBB-AC6CBCC17497}"/>
              </a:ext>
            </a:extLst>
          </p:cNvPr>
          <p:cNvGraphicFramePr>
            <a:graphicFrameLocks noGrp="1"/>
          </p:cNvGraphicFramePr>
          <p:nvPr>
            <p:ph idx="1"/>
          </p:nvPr>
        </p:nvGraphicFramePr>
        <p:xfrm>
          <a:off x="883460" y="1811462"/>
          <a:ext cx="10425080" cy="4379664"/>
        </p:xfrm>
        <a:graphic>
          <a:graphicData uri="http://schemas.openxmlformats.org/drawingml/2006/table">
            <a:tbl>
              <a:tblPr>
                <a:tableStyleId>{5C22544A-7EE6-4342-B048-85BDC9FD1C3A}</a:tableStyleId>
              </a:tblPr>
              <a:tblGrid>
                <a:gridCol w="5212540">
                  <a:extLst>
                    <a:ext uri="{9D8B030D-6E8A-4147-A177-3AD203B41FA5}">
                      <a16:colId xmlns:a16="http://schemas.microsoft.com/office/drawing/2014/main" val="2740994537"/>
                    </a:ext>
                  </a:extLst>
                </a:gridCol>
                <a:gridCol w="5212540">
                  <a:extLst>
                    <a:ext uri="{9D8B030D-6E8A-4147-A177-3AD203B41FA5}">
                      <a16:colId xmlns:a16="http://schemas.microsoft.com/office/drawing/2014/main" val="2588826804"/>
                    </a:ext>
                  </a:extLst>
                </a:gridCol>
              </a:tblGrid>
              <a:tr h="362611">
                <a:tc>
                  <a:txBody>
                    <a:bodyPr/>
                    <a:lstStyle/>
                    <a:p>
                      <a:pPr>
                        <a:buNone/>
                      </a:pPr>
                      <a:r>
                        <a:rPr lang="en-IN" sz="1800"/>
                        <a:t>Category</a:t>
                      </a:r>
                    </a:p>
                  </a:txBody>
                  <a:tcPr marL="90653" marR="90653" marT="45326" marB="45326" anchor="ctr"/>
                </a:tc>
                <a:tc>
                  <a:txBody>
                    <a:bodyPr/>
                    <a:lstStyle/>
                    <a:p>
                      <a:pPr>
                        <a:buNone/>
                      </a:pPr>
                      <a:r>
                        <a:rPr lang="en-IN" sz="1800"/>
                        <a:t>Technology</a:t>
                      </a:r>
                    </a:p>
                  </a:txBody>
                  <a:tcPr marL="90653" marR="90653" marT="45326" marB="45326" anchor="ctr"/>
                </a:tc>
                <a:extLst>
                  <a:ext uri="{0D108BD9-81ED-4DB2-BD59-A6C34878D82A}">
                    <a16:rowId xmlns:a16="http://schemas.microsoft.com/office/drawing/2014/main" val="786401510"/>
                  </a:ext>
                </a:extLst>
              </a:tr>
              <a:tr h="362611">
                <a:tc>
                  <a:txBody>
                    <a:bodyPr/>
                    <a:lstStyle/>
                    <a:p>
                      <a:pPr>
                        <a:buNone/>
                      </a:pPr>
                      <a:r>
                        <a:rPr lang="en-IN" sz="1800"/>
                        <a:t>Frontend</a:t>
                      </a:r>
                    </a:p>
                  </a:txBody>
                  <a:tcPr marL="90653" marR="90653" marT="45326" marB="45326" anchor="ctr"/>
                </a:tc>
                <a:tc>
                  <a:txBody>
                    <a:bodyPr/>
                    <a:lstStyle/>
                    <a:p>
                      <a:pPr>
                        <a:buNone/>
                      </a:pPr>
                      <a:r>
                        <a:rPr lang="en-IN" sz="1800"/>
                        <a:t>HTML, CSS, JavaScript</a:t>
                      </a:r>
                    </a:p>
                  </a:txBody>
                  <a:tcPr marL="90653" marR="90653" marT="45326" marB="45326" anchor="ctr"/>
                </a:tc>
                <a:extLst>
                  <a:ext uri="{0D108BD9-81ED-4DB2-BD59-A6C34878D82A}">
                    <a16:rowId xmlns:a16="http://schemas.microsoft.com/office/drawing/2014/main" val="3674929816"/>
                  </a:ext>
                </a:extLst>
              </a:tr>
              <a:tr h="362611">
                <a:tc>
                  <a:txBody>
                    <a:bodyPr/>
                    <a:lstStyle/>
                    <a:p>
                      <a:pPr>
                        <a:buNone/>
                      </a:pPr>
                      <a:r>
                        <a:rPr lang="en-IN" sz="1800"/>
                        <a:t>Frontend Framework</a:t>
                      </a:r>
                    </a:p>
                  </a:txBody>
                  <a:tcPr marL="90653" marR="90653" marT="45326" marB="45326" anchor="ctr"/>
                </a:tc>
                <a:tc>
                  <a:txBody>
                    <a:bodyPr/>
                    <a:lstStyle/>
                    <a:p>
                      <a:pPr>
                        <a:buNone/>
                      </a:pPr>
                      <a:r>
                        <a:rPr lang="en-IN" sz="1800"/>
                        <a:t>React.js</a:t>
                      </a:r>
                    </a:p>
                  </a:txBody>
                  <a:tcPr marL="90653" marR="90653" marT="45326" marB="45326" anchor="ctr"/>
                </a:tc>
                <a:extLst>
                  <a:ext uri="{0D108BD9-81ED-4DB2-BD59-A6C34878D82A}">
                    <a16:rowId xmlns:a16="http://schemas.microsoft.com/office/drawing/2014/main" val="437732532"/>
                  </a:ext>
                </a:extLst>
              </a:tr>
              <a:tr h="362611">
                <a:tc>
                  <a:txBody>
                    <a:bodyPr/>
                    <a:lstStyle/>
                    <a:p>
                      <a:pPr>
                        <a:buNone/>
                      </a:pPr>
                      <a:r>
                        <a:rPr lang="en-IN" sz="1800"/>
                        <a:t>Backend</a:t>
                      </a:r>
                    </a:p>
                  </a:txBody>
                  <a:tcPr marL="90653" marR="90653" marT="45326" marB="45326" anchor="ctr"/>
                </a:tc>
                <a:tc>
                  <a:txBody>
                    <a:bodyPr/>
                    <a:lstStyle/>
                    <a:p>
                      <a:pPr>
                        <a:buNone/>
                      </a:pPr>
                      <a:r>
                        <a:rPr lang="en-IN" sz="1800"/>
                        <a:t>Node.js, Express.js</a:t>
                      </a:r>
                    </a:p>
                  </a:txBody>
                  <a:tcPr marL="90653" marR="90653" marT="45326" marB="45326" anchor="ctr"/>
                </a:tc>
                <a:extLst>
                  <a:ext uri="{0D108BD9-81ED-4DB2-BD59-A6C34878D82A}">
                    <a16:rowId xmlns:a16="http://schemas.microsoft.com/office/drawing/2014/main" val="2210333494"/>
                  </a:ext>
                </a:extLst>
              </a:tr>
              <a:tr h="362611">
                <a:tc>
                  <a:txBody>
                    <a:bodyPr/>
                    <a:lstStyle/>
                    <a:p>
                      <a:pPr>
                        <a:buNone/>
                      </a:pPr>
                      <a:r>
                        <a:rPr lang="en-IN" sz="1800"/>
                        <a:t>Relational Database</a:t>
                      </a:r>
                    </a:p>
                  </a:txBody>
                  <a:tcPr marL="90653" marR="90653" marT="45326" marB="45326" anchor="ctr"/>
                </a:tc>
                <a:tc>
                  <a:txBody>
                    <a:bodyPr/>
                    <a:lstStyle/>
                    <a:p>
                      <a:pPr>
                        <a:buNone/>
                      </a:pPr>
                      <a:r>
                        <a:rPr lang="en-IN" sz="1800"/>
                        <a:t>MySQL</a:t>
                      </a:r>
                    </a:p>
                  </a:txBody>
                  <a:tcPr marL="90653" marR="90653" marT="45326" marB="45326" anchor="ctr"/>
                </a:tc>
                <a:extLst>
                  <a:ext uri="{0D108BD9-81ED-4DB2-BD59-A6C34878D82A}">
                    <a16:rowId xmlns:a16="http://schemas.microsoft.com/office/drawing/2014/main" val="3608963327"/>
                  </a:ext>
                </a:extLst>
              </a:tr>
              <a:tr h="362611">
                <a:tc>
                  <a:txBody>
                    <a:bodyPr/>
                    <a:lstStyle/>
                    <a:p>
                      <a:pPr>
                        <a:buNone/>
                      </a:pPr>
                      <a:r>
                        <a:rPr lang="en-IN" sz="1800"/>
                        <a:t>NoSQL Database</a:t>
                      </a:r>
                    </a:p>
                  </a:txBody>
                  <a:tcPr marL="90653" marR="90653" marT="45326" marB="45326" anchor="ctr"/>
                </a:tc>
                <a:tc>
                  <a:txBody>
                    <a:bodyPr/>
                    <a:lstStyle/>
                    <a:p>
                      <a:pPr>
                        <a:buNone/>
                      </a:pPr>
                      <a:r>
                        <a:rPr lang="en-IN" sz="1800"/>
                        <a:t>MongoDB</a:t>
                      </a:r>
                    </a:p>
                  </a:txBody>
                  <a:tcPr marL="90653" marR="90653" marT="45326" marB="45326" anchor="ctr"/>
                </a:tc>
                <a:extLst>
                  <a:ext uri="{0D108BD9-81ED-4DB2-BD59-A6C34878D82A}">
                    <a16:rowId xmlns:a16="http://schemas.microsoft.com/office/drawing/2014/main" val="2765966179"/>
                  </a:ext>
                </a:extLst>
              </a:tr>
              <a:tr h="362611">
                <a:tc>
                  <a:txBody>
                    <a:bodyPr/>
                    <a:lstStyle/>
                    <a:p>
                      <a:pPr>
                        <a:buNone/>
                      </a:pPr>
                      <a:r>
                        <a:rPr lang="en-IN" sz="1800"/>
                        <a:t>Database Management</a:t>
                      </a:r>
                    </a:p>
                  </a:txBody>
                  <a:tcPr marL="90653" marR="90653" marT="45326" marB="45326" anchor="ctr"/>
                </a:tc>
                <a:tc>
                  <a:txBody>
                    <a:bodyPr/>
                    <a:lstStyle/>
                    <a:p>
                      <a:pPr>
                        <a:buNone/>
                      </a:pPr>
                      <a:r>
                        <a:rPr lang="en-IN" sz="1800"/>
                        <a:t>MySQL Workbench, MongoDB Compass</a:t>
                      </a:r>
                    </a:p>
                  </a:txBody>
                  <a:tcPr marL="90653" marR="90653" marT="45326" marB="45326" anchor="ctr"/>
                </a:tc>
                <a:extLst>
                  <a:ext uri="{0D108BD9-81ED-4DB2-BD59-A6C34878D82A}">
                    <a16:rowId xmlns:a16="http://schemas.microsoft.com/office/drawing/2014/main" val="1925580609"/>
                  </a:ext>
                </a:extLst>
              </a:tr>
              <a:tr h="362611">
                <a:tc>
                  <a:txBody>
                    <a:bodyPr/>
                    <a:lstStyle/>
                    <a:p>
                      <a:pPr>
                        <a:buNone/>
                      </a:pPr>
                      <a:r>
                        <a:rPr lang="en-IN" sz="1800"/>
                        <a:t>API</a:t>
                      </a:r>
                    </a:p>
                  </a:txBody>
                  <a:tcPr marL="90653" marR="90653" marT="45326" marB="45326" anchor="ctr"/>
                </a:tc>
                <a:tc>
                  <a:txBody>
                    <a:bodyPr/>
                    <a:lstStyle/>
                    <a:p>
                      <a:pPr>
                        <a:buNone/>
                      </a:pPr>
                      <a:r>
                        <a:rPr lang="en-IN" sz="1800"/>
                        <a:t>REST API</a:t>
                      </a:r>
                    </a:p>
                  </a:txBody>
                  <a:tcPr marL="90653" marR="90653" marT="45326" marB="45326" anchor="ctr"/>
                </a:tc>
                <a:extLst>
                  <a:ext uri="{0D108BD9-81ED-4DB2-BD59-A6C34878D82A}">
                    <a16:rowId xmlns:a16="http://schemas.microsoft.com/office/drawing/2014/main" val="2812438729"/>
                  </a:ext>
                </a:extLst>
              </a:tr>
              <a:tr h="362611">
                <a:tc>
                  <a:txBody>
                    <a:bodyPr/>
                    <a:lstStyle/>
                    <a:p>
                      <a:pPr>
                        <a:buNone/>
                      </a:pPr>
                      <a:r>
                        <a:rPr lang="en-IN" sz="1800"/>
                        <a:t>Authentication</a:t>
                      </a:r>
                    </a:p>
                  </a:txBody>
                  <a:tcPr marL="90653" marR="90653" marT="45326" marB="45326" anchor="ctr"/>
                </a:tc>
                <a:tc>
                  <a:txBody>
                    <a:bodyPr/>
                    <a:lstStyle/>
                    <a:p>
                      <a:pPr>
                        <a:buNone/>
                      </a:pPr>
                      <a:r>
                        <a:rPr lang="en-IN" sz="1800"/>
                        <a:t>JWT (JSON Web Token)</a:t>
                      </a:r>
                    </a:p>
                  </a:txBody>
                  <a:tcPr marL="90653" marR="90653" marT="45326" marB="45326" anchor="ctr"/>
                </a:tc>
                <a:extLst>
                  <a:ext uri="{0D108BD9-81ED-4DB2-BD59-A6C34878D82A}">
                    <a16:rowId xmlns:a16="http://schemas.microsoft.com/office/drawing/2014/main" val="3627129321"/>
                  </a:ext>
                </a:extLst>
              </a:tr>
              <a:tr h="362611">
                <a:tc>
                  <a:txBody>
                    <a:bodyPr/>
                    <a:lstStyle/>
                    <a:p>
                      <a:pPr>
                        <a:buNone/>
                      </a:pPr>
                      <a:r>
                        <a:rPr lang="en-IN" sz="1800"/>
                        <a:t>API Testing</a:t>
                      </a:r>
                    </a:p>
                  </a:txBody>
                  <a:tcPr marL="90653" marR="90653" marT="45326" marB="45326" anchor="ctr"/>
                </a:tc>
                <a:tc>
                  <a:txBody>
                    <a:bodyPr/>
                    <a:lstStyle/>
                    <a:p>
                      <a:pPr>
                        <a:buNone/>
                      </a:pPr>
                      <a:r>
                        <a:rPr lang="en-IN" sz="1800"/>
                        <a:t>Postman</a:t>
                      </a:r>
                    </a:p>
                  </a:txBody>
                  <a:tcPr marL="90653" marR="90653" marT="45326" marB="45326" anchor="ctr"/>
                </a:tc>
                <a:extLst>
                  <a:ext uri="{0D108BD9-81ED-4DB2-BD59-A6C34878D82A}">
                    <a16:rowId xmlns:a16="http://schemas.microsoft.com/office/drawing/2014/main" val="1118532886"/>
                  </a:ext>
                </a:extLst>
              </a:tr>
              <a:tr h="362611">
                <a:tc>
                  <a:txBody>
                    <a:bodyPr/>
                    <a:lstStyle/>
                    <a:p>
                      <a:pPr>
                        <a:buNone/>
                      </a:pPr>
                      <a:r>
                        <a:rPr lang="en-IN" sz="1800"/>
                        <a:t>Version Control</a:t>
                      </a:r>
                    </a:p>
                  </a:txBody>
                  <a:tcPr marL="90653" marR="90653" marT="45326" marB="45326" anchor="ctr"/>
                </a:tc>
                <a:tc>
                  <a:txBody>
                    <a:bodyPr/>
                    <a:lstStyle/>
                    <a:p>
                      <a:pPr>
                        <a:buNone/>
                      </a:pPr>
                      <a:r>
                        <a:rPr lang="en-IN" sz="1800"/>
                        <a:t>Git, GitHub</a:t>
                      </a:r>
                    </a:p>
                  </a:txBody>
                  <a:tcPr marL="90653" marR="90653" marT="45326" marB="45326" anchor="ctr"/>
                </a:tc>
                <a:extLst>
                  <a:ext uri="{0D108BD9-81ED-4DB2-BD59-A6C34878D82A}">
                    <a16:rowId xmlns:a16="http://schemas.microsoft.com/office/drawing/2014/main" val="3078586692"/>
                  </a:ext>
                </a:extLst>
              </a:tr>
              <a:tr h="362611">
                <a:tc>
                  <a:txBody>
                    <a:bodyPr/>
                    <a:lstStyle/>
                    <a:p>
                      <a:pPr>
                        <a:buNone/>
                      </a:pPr>
                      <a:r>
                        <a:rPr lang="en-IN" sz="1800"/>
                        <a:t>Development Tool</a:t>
                      </a:r>
                    </a:p>
                  </a:txBody>
                  <a:tcPr marL="90653" marR="90653" marT="45326" marB="45326" anchor="ctr"/>
                </a:tc>
                <a:tc>
                  <a:txBody>
                    <a:bodyPr/>
                    <a:lstStyle/>
                    <a:p>
                      <a:pPr>
                        <a:buNone/>
                      </a:pPr>
                      <a:r>
                        <a:rPr lang="en-IN" sz="1800" dirty="0"/>
                        <a:t>Visual Studio Code</a:t>
                      </a:r>
                    </a:p>
                  </a:txBody>
                  <a:tcPr marL="90653" marR="90653" marT="45326" marB="45326" anchor="ctr"/>
                </a:tc>
                <a:extLst>
                  <a:ext uri="{0D108BD9-81ED-4DB2-BD59-A6C34878D82A}">
                    <a16:rowId xmlns:a16="http://schemas.microsoft.com/office/drawing/2014/main" val="3868141794"/>
                  </a:ext>
                </a:extLst>
              </a:tr>
            </a:tbl>
          </a:graphicData>
        </a:graphic>
      </p:graphicFrame>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ctrTitle"/>
          </p:nvPr>
        </p:nvSpPr>
        <p:spPr>
          <a:xfrm>
            <a:off x="1524000" y="406401"/>
            <a:ext cx="9144000" cy="1108364"/>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4" name="Subtitle 3">
            <a:extLst>
              <a:ext uri="{FF2B5EF4-FFF2-40B4-BE49-F238E27FC236}">
                <a16:creationId xmlns:a16="http://schemas.microsoft.com/office/drawing/2014/main" id="{0151F1E6-024A-550A-3641-EFA411A3EA97}"/>
              </a:ext>
            </a:extLst>
          </p:cNvPr>
          <p:cNvSpPr>
            <a:spLocks noGrp="1"/>
          </p:cNvSpPr>
          <p:nvPr>
            <p:ph type="subTitle" idx="1"/>
          </p:nvPr>
        </p:nvSpPr>
        <p:spPr>
          <a:xfrm>
            <a:off x="1524000" y="1385455"/>
            <a:ext cx="9144000" cy="5066144"/>
          </a:xfrm>
        </p:spPr>
        <p:txBody>
          <a:bodyPr>
            <a:normAutofit/>
          </a:bodyPr>
          <a:lstStyle/>
          <a:p>
            <a:pPr algn="l"/>
            <a:r>
              <a:rPr lang="en-IN" dirty="0"/>
              <a:t>The Travel Package Booking Portal provides an efficient and centralized platform for managing travel packages and online bookings. The system simplifies package searching, customer registration, booking management, and administration while reducing manual work and data errors. By using a structured MySQL database and a reliable backend, the system maintains data consistency, security, and efficient access to travel and booking information. The project demonstrates important concepts of Database Systems Engineering and Distributed Backend Development, including database design, CRUD operations, transactions, API-based communication, and scalable backend services. Overall, the portal provides a user-friendly, reliable, and efficient solution for both </a:t>
            </a:r>
            <a:r>
              <a:rPr lang="en-IN" dirty="0" err="1"/>
              <a:t>travelers</a:t>
            </a:r>
            <a:r>
              <a:rPr lang="en-IN" dirty="0"/>
              <a:t> and administrators.</a:t>
            </a: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p:txBody>
          <a:bodyPr/>
          <a:lstStyle/>
          <a:p>
            <a:pPr>
              <a:spcAft>
                <a:spcPts val="600"/>
              </a:spcAft>
            </a:pPr>
            <a:fld id="{B961B71F-4B40-8942-BB88-E0F5C0B46E10}" type="slidenum">
              <a:rPr lang="en-US" smtClean="0"/>
              <a:pPr>
                <a:spcAft>
                  <a:spcPts val="600"/>
                </a:spcAft>
              </a:pPr>
              <a:t>11</a:t>
            </a:fld>
            <a:endParaRPr lang="en-US" dirty="0"/>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FCA3B6-F378-CB0F-4C2D-42CD642D2925}"/>
              </a:ext>
            </a:extLst>
          </p:cNvPr>
          <p:cNvSpPr>
            <a:spLocks noGrp="1"/>
          </p:cNvSpPr>
          <p:nvPr>
            <p:ph idx="1"/>
          </p:nvPr>
        </p:nvSpPr>
        <p:spPr>
          <a:xfrm>
            <a:off x="838200" y="979055"/>
            <a:ext cx="10515600" cy="5197908"/>
          </a:xfrm>
        </p:spPr>
        <p:txBody>
          <a:bodyPr>
            <a:normAutofit fontScale="85000" lnSpcReduction="20000"/>
          </a:bodyPr>
          <a:lstStyle/>
          <a:p>
            <a:r>
              <a:rPr lang="en-IN" b="1" dirty="0"/>
              <a:t>Future Scope</a:t>
            </a:r>
          </a:p>
          <a:p>
            <a:r>
              <a:rPr lang="en-IN" dirty="0"/>
              <a:t>The system can be enhanced in the future by adding advanced features such as:</a:t>
            </a:r>
          </a:p>
          <a:p>
            <a:pPr lvl="0"/>
            <a:r>
              <a:rPr lang="en-IN" dirty="0"/>
              <a:t>Online Payment Integration for secure and convenient transactions.</a:t>
            </a:r>
          </a:p>
          <a:p>
            <a:pPr lvl="0"/>
            <a:r>
              <a:rPr lang="en-IN" dirty="0"/>
              <a:t>AI-Based Recommendations to suggest packages based on user preferences.</a:t>
            </a:r>
          </a:p>
          <a:p>
            <a:pPr lvl="0"/>
            <a:r>
              <a:rPr lang="en-IN" dirty="0"/>
              <a:t>Real-Time Availability for hotels, transportation, and travel packages.</a:t>
            </a:r>
          </a:p>
          <a:p>
            <a:pPr lvl="0"/>
            <a:r>
              <a:rPr lang="en-IN" dirty="0"/>
              <a:t>Mobile Application for Android and iOS users.</a:t>
            </a:r>
          </a:p>
          <a:p>
            <a:pPr lvl="0"/>
            <a:r>
              <a:rPr lang="en-IN" dirty="0"/>
              <a:t>Multilingual Support for users from different regions.</a:t>
            </a:r>
          </a:p>
          <a:p>
            <a:pPr lvl="0"/>
            <a:r>
              <a:rPr lang="en-IN" dirty="0"/>
              <a:t>Review and Rating System for destinations and travel packages.</a:t>
            </a:r>
          </a:p>
          <a:p>
            <a:pPr lvl="0"/>
            <a:r>
              <a:rPr lang="en-IN" dirty="0"/>
              <a:t>Real-Time Notifications through email, SMS, or push notifications.</a:t>
            </a:r>
          </a:p>
          <a:p>
            <a:pPr lvl="0"/>
            <a:r>
              <a:rPr lang="en-IN" dirty="0"/>
              <a:t>Advanced Analytics for administrators to </a:t>
            </a:r>
            <a:r>
              <a:rPr lang="en-IN" dirty="0" err="1"/>
              <a:t>analyze</a:t>
            </a:r>
            <a:r>
              <a:rPr lang="en-IN" dirty="0"/>
              <a:t> bookings, revenue, and customer preferences.</a:t>
            </a:r>
          </a:p>
          <a:p>
            <a:pPr lvl="0"/>
            <a:r>
              <a:rPr lang="en-IN" dirty="0"/>
              <a:t>Cloud Deployment and Microservices to improve scalability and reliability.</a:t>
            </a:r>
          </a:p>
          <a:p>
            <a:pPr lvl="0"/>
            <a:r>
              <a:rPr lang="en-IN" dirty="0"/>
              <a:t>Location and Map Integration to provide interactive destination information.</a:t>
            </a:r>
          </a:p>
          <a:p>
            <a:endParaRPr lang="en-IN" dirty="0"/>
          </a:p>
        </p:txBody>
      </p:sp>
      <p:sp>
        <p:nvSpPr>
          <p:cNvPr id="4" name="Date Placeholder 3">
            <a:extLst>
              <a:ext uri="{FF2B5EF4-FFF2-40B4-BE49-F238E27FC236}">
                <a16:creationId xmlns:a16="http://schemas.microsoft.com/office/drawing/2014/main" id="{FC395CDC-A1BE-7441-8912-83A47194F099}"/>
              </a:ext>
            </a:extLst>
          </p:cNvPr>
          <p:cNvSpPr>
            <a:spLocks noGrp="1"/>
          </p:cNvSpPr>
          <p:nvPr>
            <p:ph type="dt" sz="half" idx="10"/>
          </p:nvPr>
        </p:nvSpPr>
        <p:spPr/>
        <p:txBody>
          <a:bodyPr/>
          <a:lstStyle/>
          <a:p>
            <a:fld id="{B119A7DA-FCDD-43FA-8A0C-6A5B2B391695}" type="datetime1">
              <a:rPr lang="en-IN" smtClean="0"/>
              <a:t>28-08-2026</a:t>
            </a:fld>
            <a:endParaRPr lang="en-US"/>
          </a:p>
        </p:txBody>
      </p:sp>
      <p:sp>
        <p:nvSpPr>
          <p:cNvPr id="5" name="Footer Placeholder 4">
            <a:extLst>
              <a:ext uri="{FF2B5EF4-FFF2-40B4-BE49-F238E27FC236}">
                <a16:creationId xmlns:a16="http://schemas.microsoft.com/office/drawing/2014/main" id="{99C8FD44-7F34-F919-B106-0C6E50EDF67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421D75F-86CB-15E0-413F-D0B62E2D9E2C}"/>
              </a:ext>
            </a:extLst>
          </p:cNvPr>
          <p:cNvSpPr>
            <a:spLocks noGrp="1"/>
          </p:cNvSpPr>
          <p:nvPr>
            <p:ph type="sldNum" sz="quarter" idx="12"/>
          </p:nvPr>
        </p:nvSpPr>
        <p:spPr/>
        <p:txBody>
          <a:bodyPr/>
          <a:lstStyle/>
          <a:p>
            <a:fld id="{D6396F81-1074-6B40-A92F-A06CCD3B4178}" type="slidenum">
              <a:rPr lang="en-US" smtClean="0"/>
              <a:t>12</a:t>
            </a:fld>
            <a:endParaRPr lang="en-US"/>
          </a:p>
        </p:txBody>
      </p:sp>
    </p:spTree>
    <p:extLst>
      <p:ext uri="{BB962C8B-B14F-4D97-AF65-F5344CB8AC3E}">
        <p14:creationId xmlns:p14="http://schemas.microsoft.com/office/powerpoint/2010/main" val="28630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13</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8267</TotalTime>
  <Words>1461</Words>
  <Application>Microsoft Office PowerPoint</Application>
  <PresentationFormat>Widescreen</PresentationFormat>
  <Paragraphs>139</Paragraphs>
  <Slides>13</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Arial</vt:lpstr>
      <vt:lpstr>Calibri</vt:lpstr>
      <vt:lpstr>Calibri Light</vt:lpstr>
      <vt:lpstr>Times New Roman</vt:lpstr>
      <vt:lpstr>Office Theme</vt:lpstr>
      <vt:lpstr>Custom Design</vt:lpstr>
      <vt:lpstr> 1st  REVIEW DATABASE SYSTEMS ENGINEERING AND DISTRIBUTED BACKEND DEVELOPMENT (25CS1302E) TRAVEL PACKAGE BOOKING PORTAL </vt:lpstr>
      <vt:lpstr>GROUP NUMBER:22</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Nakshatra E</cp:lastModifiedBy>
  <cp:revision>98</cp:revision>
  <dcterms:created xsi:type="dcterms:W3CDTF">2022-05-20T10:20:31Z</dcterms:created>
  <dcterms:modified xsi:type="dcterms:W3CDTF">2026-08-28T15:28:23Z</dcterms:modified>
</cp:coreProperties>
</file>